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Presentad al grupo y el título. Idea en una frase: nos dieron los datos de un bootcamp en CSV desordenados y los hemos convertido en una base de datos relacional bien diseñada, alojada en la nube y lista para consultar. Las cuatro etiquetas resumen el resultado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Presenta el reparto: siete bloques, en el mismo orden en que se construye una base de datos. Cada uno explica su parte y da paso al siguiente. Si queréis, añadid el nombre de cada ponente en su tarjeta.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El enunciado pide cuatro cosas en este orden. Ese orden es el clásico de los libros, pensado para cuando no hay datos y se diseña desde cero. Nosotros ya teníamos una tabla con datos, así que lo natural fue normalizarla primero: las entidades del E/R salen solas de la normalización. Además, el enunciado también pide que la base de datos pueda crecer en campus, verticales, promociones y modalidades.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Así vienen los datos: una fila por alumno con todo mezclado. Fijaos en tres detalles que luego importan. Una promoción es fecha + campus + vertical. La vertical no viene escrita: se deduce de los proyectos (HLF y EDA son de Data Science; WebDev y React, de Full Stack). Y el claustro menciona dos promociones que no tienen alumnos. Da paso al Ponente 2 con: “Si metemos esto tal cual en una tabla, tenemos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Explica los cinco problemas con los ejemplos reales. Los tres últimos se llaman “anomalías” de actualización, inserción y borrado: es la palabra técnica que conviene decir. La idea clave: cuando un dato está repetido, tarde o temprano las copias dejan de coincidir.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Primera Forma Normal: cada celda guarda un solo valor y no hay grupos de columnas que signifiquen lo mismo. HLF, EDA, BBDD… eran la misma cosa, una nota, repartida en cinco columnas. Al pasarlas a filas, la tabla ya no cambia de forma cuando aparece un proyecto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Segunda Forma Normal: si la clave tiene varias columnas, ningún dato puede depender solo de una parte. Tercera Forma Normal: ningún dato puede depender de otro dato que no sea la clave. La fecha depende de la promoción, no del alumno: esa cadena es la dependencia transitiva. Con esto, los cinco problemas de antes desaparecen. Da paso al Ponente 3: “De aquí salen las entidades del modelo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3. Cada tabla “principal” que salió de normalizar es una entidad; las tablas que unen dos cosas son relaciones. ¿Por qué Alumnos–Promoción es N:M y no 1:N? Hoy cada alumno está en una sola promoción, pero en la realidad alguien puede hacer Data Science y después Full Stack. Con N:M la base de datos ya está preparada sin cambiar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3. Recorre el diagrama de izquierda a derecha: Alumnos realiza Proyectos (con la evaluación), Alumnos pertenece a Promoción, Promoción tiene Proyectos y Promoción tiene Claustro. Señala que la modalidad está en el claustro porque solo claustro.csv trae ese dato, y que en una misma promoción hay profesores presenciales (TA) y online (LI). Da paso al Ponente 4: “Ahora hay que convertir este dibujo en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4. PK: la columna que identifica cada fila sin repetirse, por ejemplo alumnos.id. FK: una columna que apunta a la PK de otra tabla y así las enlaza, por ejemplo alumnosProyectos.id_alumnos apunta a alumnos.id. Como todas nuestras relaciones son N:M, cada una crea su tabla intermedia.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4. Lee una fila de ejemplo: en alumnosProyectos, la fila (1, 2, No Apto) significa “el alumno 1, Jafet Casals, en el proyecto 2, EDA, tiene No Apto”. Las líneas con “pata de gallo” marcan el lado N de cada relación. Tipos elegidos: los id son enteros autoincrementales, la fecha es DATE y la modalidad solo admite presencial u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Primero probamos el diseño en local con MySQL Workbench. El enunciado pide PostgreSQL alojado en un servidor; usamos Supabase, que es PostgreSQL gratuito en la nube (el enunciado sugería Render; los dos sirven). El orden de creación importa: una FK solo puede apuntar a una tabla que ya existe. Detalle técnico: como insertamos los id a mano, al final del script se reajusta el contador para que el siguiente alumno sea el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A la izquierda, el script tal como lo escribimos en MySQL Workbench. A la derecha, la versión que ejecutamos en Supabase. Lo que cambia está en amarillo. Arriba: en MySQL creábamos la base de datos con CREATE DATABASE y USE; en Supabase la base ya existe, así que en su lugar abrimos una transacción con BEGIN (si algo falla, no se queda nada a medias) y borramos las tablas si existían, para poder ejecutar el script varias veces. En cada tabla, AUTO_INCREMENT se convierte en GENERATED BY DEFAULT AS IDENTITY, que es la forma estándar de numerar automáticamente en PostgreSQL. Todo lo demás, columnas, claves primarias y foráneas, es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Las tablas intermedias (alumnosPromocion, promocionProyectos y promocionClaustro) son exactamente iguales en los dos: claves primarias compuestas y claves foráneas. La única tabla con un cambio de verdad es claustro. En MySQL la modalidad era un ENUM("presencial","online"). PostgreSQL no permite ENUM dentro del CREATE TABLE, y además las comillas dobles significan “nombre de columna”, no texto. Así que la pasamos a VARCHAR con un CHECK, que hace lo mismo: solo deja guardar presencial u online. Después de crear las tablas, el script hace los INSERT con los datos de los CSV y al final reajusta los contadores de los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Las dos herramientas dibujan el esquema solas a partir de las claves foráneas, y coincide con nuestro modelo lógico. La ingeniería inversa de Workbench (Database → Reverse Engineer) se lee mejor: muestra los tipos, marca PK y FK con iconos y usa la notación “pata de gallo” (una raya = 1, tres patas =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Primera consulta de la demo: contar las filas de cada tabla. Si es posible, ejecutadla en directo en Supabase. Explicad de dónde sale cada número: 52 alumnos, 52 × 5 = 260 notas, 4 promociones × 5 proyectos = 20, y 6 promociones porque dos solo aparecen en el claustro. Da paso al Ponente 6: “Ahora vamos a preguntarle cosas a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que lo investigó). Nosotros cargamos los datos con un script SQL que ya tenía todos los INSERT escritos. Pero también investigamos cómo hacerlo de forma automática con Python. La flecha de arriba es el camino completo, en tres pasos. Paso 1: pandas, la librería de Python para trabajar con tablas, abre cada CSV con read_csv (el separador es punto y coma). Después iloc[:, 0:2] se queda solo con las dos primeras columnas: nombre y email. Esto se repite para las cuatro clases.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Paso 2. Primero, concat junta los cuatro DataFrames (las cuatro tablas que pandas tiene en memoria) en uno solo con los 52 alumnos, y duplicated comprueba que no haya ninguno repetido. Después, create_engine abre la conexión con la base de datos: aquí es un archivo SQLite llamado bootcamp.db. Por último, Table y Column crean la tabla alumnos con la misma estructura que en nuestro modelo lógico: id como clave primaria, nombre 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Paso 3. to_sql coge la lista de alumnos y la inserta entera en la tabla, en una sola línea; if_exists="append" significa “añádelos a la tabla que ya existe”. Para comprobarlo, lanzamos SELECT COUNT(*) y SELECT * … LIMIT 5, y salen los primeros alumnos: Jafet Casals, Jorge Manzanares, Onofre Adadia… Ha funcionado. Importante: lo probamos con SQLite, una base de datos en un archivo local, y solo con la tabla alumnos. Para hacerlo en Supabase bastaría cambiar la cadena de conexión por la de PostgreSQL. Las demás tablas se cargarían igual; para las notas habría que pasar las cinco columnas de proyectos a filas, que es la 1FN que explicamos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Ejecutad esta consulta en directo si podéis (está en el PDF, sección 6). Mensaje: la normalización repartió los datos en varias tablas, y los JOIN los vuelven a juntar para responder preguntas reales. Si sobra tiempo, enseñad también la ficha de Jafet Casals: con 4 JOIN se reconstruye la fila original del CSV, pero sin redundancia.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El enunciado pide que pueda crecer en campus, verticales, promociones y modalidades. Gracias a la normalización, casi todo se hace con un INSERT. Si hay tiempo, ejecutad este INSERT en directo y repetid la consulta de alumnos por promoción para que se vea la promoción nueva. Sed honestos con el último punto: añadir una modalidad hoy obliga a cambiar el ENUM; es la primera mejora de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Cerrar con mejoras demuestra que entendemos los límites del diseño. La tabla modalidad cubriría por completo la escalabilidad que pide el enunciado. RLS (Row Level Security) está desactivado: cualquiera con la clave pública del proyecto podría leer y cambiar datos; para datos de ejemplo no es grave, pero en un caso real habría que activarlo.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Ponente 6 resume en una frase y abre el turno de preguntas. Preguntas probables: ¿por qué N:M entre alumnos y promoción? (un alumno puede repetir bootcamp). ¿Por qué Supabase y no Render? (los dos son PostgreSQL gratuito; el script sirve en ambos). ¿Por qué la modalidad no está en promoción? (en una misma promoción hay profesores presenciales y online). ¿Por qué normalizasteis antes del E/R? (partíamos de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C4"/>
                </a:solidFill>
                <a:latin typeface="Arial" pitchFamily="34" charset="0"/>
                <a:ea typeface="Arial" pitchFamily="34" charset="-122"/>
                <a:cs typeface="Arial" pitchFamily="34" charset="-120"/>
              </a:rPr>
              <a:t>Proyecto grupal · Equipo E · Octubre 2026</a:t>
            </a:r>
            <a:endParaRPr lang="en-US" sz="1200" dirty="0"/>
          </a:p>
        </p:txBody>
      </p:sp>
      <p:sp>
        <p:nvSpPr>
          <p:cNvPr id="3" name="Text 1"/>
          <p:cNvSpPr/>
          <p:nvPr/>
        </p:nvSpPr>
        <p:spPr>
          <a:xfrm>
            <a:off x="812800" y="17526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Arial" pitchFamily="34" charset="0"/>
                <a:ea typeface="Arial" pitchFamily="34" charset="-122"/>
                <a:cs typeface="Arial" pitchFamily="34" charset="-120"/>
              </a:rPr>
              <a:t>BOOTCAMP · DATA SCIENCE &amp; FULL STACK · MÓDULO SQL</a:t>
            </a:r>
            <a:endParaRPr lang="en-US" sz="1400" dirty="0"/>
          </a:p>
        </p:txBody>
      </p:sp>
      <p:sp>
        <p:nvSpPr>
          <p:cNvPr id="4" name="Text 2"/>
          <p:cNvSpPr/>
          <p:nvPr>
            <p:ph type="title"/>
          </p:nvPr>
        </p:nvSpPr>
        <p:spPr>
          <a:xfrm>
            <a:off x="812800" y="223529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0"/>
                </a:solidFill>
                <a:latin typeface="Arial" pitchFamily="34" charset="0"/>
                <a:ea typeface="Arial" pitchFamily="34" charset="-122"/>
                <a:cs typeface="Arial" pitchFamily="34" charset="-120"/>
              </a:rPr>
              <a:t>De 5 CSV a una base de datos relacional</a:t>
            </a:r>
            <a:endParaRPr lang="en-US" sz="6000" dirty="0"/>
          </a:p>
        </p:txBody>
      </p:sp>
      <p:sp>
        <p:nvSpPr>
          <p:cNvPr id="5" name="Text 3"/>
          <p:cNvSpPr/>
          <p:nvPr/>
        </p:nvSpPr>
        <p:spPr>
          <a:xfrm>
            <a:off x="812800" y="4108450"/>
            <a:ext cx="990600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6"/>
                </a:solidFill>
                <a:latin typeface="Arial" pitchFamily="34" charset="0"/>
                <a:ea typeface="Arial" pitchFamily="34" charset="-122"/>
                <a:cs typeface="Arial" pitchFamily="34" charset="-120"/>
              </a:rPr>
              <a:t>Normalización, modelo E/R, modelo lógico y PostgreSQL en Supabase</a:t>
            </a:r>
            <a:endParaRPr lang="en-US" sz="2000" dirty="0"/>
          </a:p>
        </p:txBody>
      </p:sp>
      <p:sp>
        <p:nvSpPr>
          <p:cNvPr id="6" name="Text 4"/>
          <p:cNvSpPr/>
          <p:nvPr/>
        </p:nvSpPr>
        <p:spPr>
          <a:xfrm>
            <a:off x="812800" y="4705350"/>
            <a:ext cx="978396" cy="406400"/>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8 tablas</a:t>
            </a:r>
            <a:endParaRPr lang="en-US" sz="1400" dirty="0"/>
          </a:p>
        </p:txBody>
      </p:sp>
      <p:sp>
        <p:nvSpPr>
          <p:cNvPr id="7" name="Text 5"/>
          <p:cNvSpPr/>
          <p:nvPr/>
        </p:nvSpPr>
        <p:spPr>
          <a:xfrm>
            <a:off x="1943596" y="4705350"/>
            <a:ext cx="1017885" cy="406400"/>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420 filas</a:t>
            </a:r>
            <a:endParaRPr lang="en-US" sz="1400" dirty="0"/>
          </a:p>
        </p:txBody>
      </p:sp>
      <p:sp>
        <p:nvSpPr>
          <p:cNvPr id="8" name="Text 6"/>
          <p:cNvSpPr/>
          <p:nvPr/>
        </p:nvSpPr>
        <p:spPr>
          <a:xfrm>
            <a:off x="3113881" y="4705350"/>
            <a:ext cx="691555" cy="406400"/>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3FN</a:t>
            </a:r>
            <a:endParaRPr lang="en-US" sz="1400" dirty="0"/>
          </a:p>
        </p:txBody>
      </p:sp>
      <p:sp>
        <p:nvSpPr>
          <p:cNvPr id="9" name="Text 7"/>
          <p:cNvSpPr/>
          <p:nvPr/>
        </p:nvSpPr>
        <p:spPr>
          <a:xfrm>
            <a:off x="3957836" y="4705350"/>
            <a:ext cx="2197497" cy="406400"/>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PostgreSQL en la nube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1 · </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2</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Cómo nos repartimos la presentación</a:t>
            </a:r>
            <a:endParaRPr lang="en-US" sz="3600" dirty="0"/>
          </a:p>
        </p:txBody>
      </p:sp>
      <p:sp>
        <p:nvSpPr>
          <p:cNvPr id="5" name="Shape 3"/>
          <p:cNvSpPr/>
          <p:nvPr/>
        </p:nvSpPr>
        <p:spPr>
          <a:xfrm>
            <a:off x="819150" y="1676400"/>
            <a:ext cx="2495550" cy="1803400"/>
          </a:xfrm>
          <a:prstGeom prst="roundRect">
            <a:avLst>
              <a:gd name="adj" fmla="val 6690"/>
            </a:avLst>
          </a:prstGeom>
          <a:solidFill>
            <a:srgbClr val="FFFFFF"/>
          </a:solidFill>
          <a:ln w="12700">
            <a:solidFill>
              <a:srgbClr val="DCE2EC"/>
            </a:solidFill>
            <a:prstDash val="solid"/>
          </a:ln>
        </p:spPr>
      </p:sp>
      <p:sp>
        <p:nvSpPr>
          <p:cNvPr id="6" name="Text 4"/>
          <p:cNvSpPr/>
          <p:nvPr/>
        </p:nvSpPr>
        <p:spPr>
          <a:xfrm>
            <a:off x="1016000" y="1873250"/>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1 · diap. 1–4</a:t>
            </a:r>
            <a:endParaRPr lang="en-US" sz="1200" dirty="0"/>
          </a:p>
        </p:txBody>
      </p:sp>
      <p:sp>
        <p:nvSpPr>
          <p:cNvPr id="7" name="Text 5"/>
          <p:cNvSpPr/>
          <p:nvPr/>
        </p:nvSpPr>
        <p:spPr>
          <a:xfrm>
            <a:off x="1016000" y="2150070"/>
            <a:ext cx="2164906"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El reto y los datos</a:t>
            </a:r>
            <a:endParaRPr lang="en-US" sz="1800" dirty="0"/>
          </a:p>
        </p:txBody>
      </p:sp>
      <p:sp>
        <p:nvSpPr>
          <p:cNvPr id="8" name="Text 6"/>
          <p:cNvSpPr/>
          <p:nvPr/>
        </p:nvSpPr>
        <p:spPr>
          <a:xfrm>
            <a:off x="1016000" y="2476401"/>
            <a:ext cx="216490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Qué nos pedían y con qué partíamos</a:t>
            </a:r>
            <a:endParaRPr lang="en-US" sz="1200" dirty="0"/>
          </a:p>
        </p:txBody>
      </p:sp>
      <p:sp>
        <p:nvSpPr>
          <p:cNvPr id="9" name="Shape 7"/>
          <p:cNvSpPr/>
          <p:nvPr/>
        </p:nvSpPr>
        <p:spPr>
          <a:xfrm>
            <a:off x="3505200" y="1676400"/>
            <a:ext cx="2495550" cy="1803400"/>
          </a:xfrm>
          <a:prstGeom prst="roundRect">
            <a:avLst>
              <a:gd name="adj" fmla="val 6690"/>
            </a:avLst>
          </a:prstGeom>
          <a:solidFill>
            <a:srgbClr val="FFFFFF"/>
          </a:solidFill>
          <a:ln w="12700">
            <a:solidFill>
              <a:srgbClr val="DCE2EC"/>
            </a:solidFill>
            <a:prstDash val="solid"/>
          </a:ln>
        </p:spPr>
      </p:sp>
      <p:sp>
        <p:nvSpPr>
          <p:cNvPr id="10" name="Text 8"/>
          <p:cNvSpPr/>
          <p:nvPr/>
        </p:nvSpPr>
        <p:spPr>
          <a:xfrm>
            <a:off x="3702050" y="1873250"/>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2 · diap. 5–7</a:t>
            </a:r>
            <a:endParaRPr lang="en-US" sz="1200" dirty="0"/>
          </a:p>
        </p:txBody>
      </p:sp>
      <p:sp>
        <p:nvSpPr>
          <p:cNvPr id="11" name="Text 9"/>
          <p:cNvSpPr/>
          <p:nvPr/>
        </p:nvSpPr>
        <p:spPr>
          <a:xfrm>
            <a:off x="3702050" y="2150070"/>
            <a:ext cx="2164906"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Normalización</a:t>
            </a:r>
            <a:endParaRPr lang="en-US" sz="1800" dirty="0"/>
          </a:p>
        </p:txBody>
      </p:sp>
      <p:sp>
        <p:nvSpPr>
          <p:cNvPr id="12" name="Text 10"/>
          <p:cNvSpPr/>
          <p:nvPr/>
        </p:nvSpPr>
        <p:spPr>
          <a:xfrm>
            <a:off x="3702050" y="2476401"/>
            <a:ext cx="216490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De la tabla original a 1FN, 2FN y 3FN</a:t>
            </a:r>
            <a:endParaRPr lang="en-US" sz="1200" dirty="0"/>
          </a:p>
        </p:txBody>
      </p:sp>
      <p:sp>
        <p:nvSpPr>
          <p:cNvPr id="13" name="Shape 11"/>
          <p:cNvSpPr/>
          <p:nvPr/>
        </p:nvSpPr>
        <p:spPr>
          <a:xfrm>
            <a:off x="6191250" y="1676400"/>
            <a:ext cx="2495550" cy="1803400"/>
          </a:xfrm>
          <a:prstGeom prst="roundRect">
            <a:avLst>
              <a:gd name="adj" fmla="val 6690"/>
            </a:avLst>
          </a:prstGeom>
          <a:solidFill>
            <a:srgbClr val="FFFFFF"/>
          </a:solidFill>
          <a:ln w="12700">
            <a:solidFill>
              <a:srgbClr val="DCE2EC"/>
            </a:solidFill>
            <a:prstDash val="solid"/>
          </a:ln>
        </p:spPr>
      </p:sp>
      <p:sp>
        <p:nvSpPr>
          <p:cNvPr id="14" name="Text 12"/>
          <p:cNvSpPr/>
          <p:nvPr/>
        </p:nvSpPr>
        <p:spPr>
          <a:xfrm>
            <a:off x="6388100" y="1873250"/>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3 · diap. 8–9</a:t>
            </a:r>
            <a:endParaRPr lang="en-US" sz="1200" dirty="0"/>
          </a:p>
        </p:txBody>
      </p:sp>
      <p:sp>
        <p:nvSpPr>
          <p:cNvPr id="15" name="Text 13"/>
          <p:cNvSpPr/>
          <p:nvPr/>
        </p:nvSpPr>
        <p:spPr>
          <a:xfrm>
            <a:off x="6388100" y="2150070"/>
            <a:ext cx="2164906"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Modelo E/R</a:t>
            </a:r>
            <a:endParaRPr lang="en-US" sz="1800" dirty="0"/>
          </a:p>
        </p:txBody>
      </p:sp>
      <p:sp>
        <p:nvSpPr>
          <p:cNvPr id="16" name="Text 14"/>
          <p:cNvSpPr/>
          <p:nvPr/>
        </p:nvSpPr>
        <p:spPr>
          <a:xfrm>
            <a:off x="6388100" y="2476401"/>
            <a:ext cx="2164906"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Entidades, atributos y relaciones</a:t>
            </a:r>
            <a:endParaRPr lang="en-US" sz="1200" dirty="0"/>
          </a:p>
        </p:txBody>
      </p:sp>
      <p:sp>
        <p:nvSpPr>
          <p:cNvPr id="17" name="Shape 15"/>
          <p:cNvSpPr/>
          <p:nvPr/>
        </p:nvSpPr>
        <p:spPr>
          <a:xfrm>
            <a:off x="8877300" y="1676400"/>
            <a:ext cx="2495550" cy="1803400"/>
          </a:xfrm>
          <a:prstGeom prst="roundRect">
            <a:avLst>
              <a:gd name="adj" fmla="val 6690"/>
            </a:avLst>
          </a:prstGeom>
          <a:solidFill>
            <a:srgbClr val="FFFFFF"/>
          </a:solidFill>
          <a:ln w="12700">
            <a:solidFill>
              <a:srgbClr val="DCE2EC"/>
            </a:solidFill>
            <a:prstDash val="solid"/>
          </a:ln>
        </p:spPr>
      </p:sp>
      <p:sp>
        <p:nvSpPr>
          <p:cNvPr id="18" name="Text 16"/>
          <p:cNvSpPr/>
          <p:nvPr/>
        </p:nvSpPr>
        <p:spPr>
          <a:xfrm>
            <a:off x="9074150" y="1873250"/>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4 · diap. 10–11</a:t>
            </a:r>
            <a:endParaRPr lang="en-US" sz="1200" dirty="0"/>
          </a:p>
        </p:txBody>
      </p:sp>
      <p:sp>
        <p:nvSpPr>
          <p:cNvPr id="19" name="Text 17"/>
          <p:cNvSpPr/>
          <p:nvPr/>
        </p:nvSpPr>
        <p:spPr>
          <a:xfrm>
            <a:off x="9074150" y="2150070"/>
            <a:ext cx="2164906"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Modelo lógico</a:t>
            </a:r>
            <a:endParaRPr lang="en-US" sz="1800" dirty="0"/>
          </a:p>
        </p:txBody>
      </p:sp>
      <p:sp>
        <p:nvSpPr>
          <p:cNvPr id="20" name="Text 18"/>
          <p:cNvSpPr/>
          <p:nvPr/>
        </p:nvSpPr>
        <p:spPr>
          <a:xfrm>
            <a:off x="9074150" y="2476401"/>
            <a:ext cx="216490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Paso a tablas, PK y FK</a:t>
            </a:r>
            <a:endParaRPr lang="en-US" sz="1200" dirty="0"/>
          </a:p>
        </p:txBody>
      </p:sp>
      <p:sp>
        <p:nvSpPr>
          <p:cNvPr id="21" name="Shape 19"/>
          <p:cNvSpPr/>
          <p:nvPr/>
        </p:nvSpPr>
        <p:spPr>
          <a:xfrm>
            <a:off x="819150" y="3670300"/>
            <a:ext cx="3399334" cy="1803400"/>
          </a:xfrm>
          <a:prstGeom prst="roundRect">
            <a:avLst>
              <a:gd name="adj" fmla="val 6690"/>
            </a:avLst>
          </a:prstGeom>
          <a:solidFill>
            <a:srgbClr val="FFFFFF"/>
          </a:solidFill>
          <a:ln w="12700">
            <a:solidFill>
              <a:srgbClr val="DCE2EC"/>
            </a:solidFill>
            <a:prstDash val="solid"/>
          </a:ln>
        </p:spPr>
      </p:sp>
      <p:sp>
        <p:nvSpPr>
          <p:cNvPr id="22" name="Text 20"/>
          <p:cNvSpPr/>
          <p:nvPr/>
        </p:nvSpPr>
        <p:spPr>
          <a:xfrm>
            <a:off x="1016000" y="3867150"/>
            <a:ext cx="30958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5 · diap. 12–16</a:t>
            </a:r>
            <a:endParaRPr lang="en-US" sz="1200" dirty="0"/>
          </a:p>
        </p:txBody>
      </p:sp>
      <p:sp>
        <p:nvSpPr>
          <p:cNvPr id="23" name="Text 21"/>
          <p:cNvSpPr/>
          <p:nvPr/>
        </p:nvSpPr>
        <p:spPr>
          <a:xfrm>
            <a:off x="1016000" y="4143970"/>
            <a:ext cx="3095803"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Creación en PostgreSQL</a:t>
            </a:r>
            <a:endParaRPr lang="en-US" sz="1800" dirty="0"/>
          </a:p>
        </p:txBody>
      </p:sp>
      <p:sp>
        <p:nvSpPr>
          <p:cNvPr id="24" name="Text 22"/>
          <p:cNvSpPr/>
          <p:nvPr/>
        </p:nvSpPr>
        <p:spPr>
          <a:xfrm>
            <a:off x="1016000" y="4470301"/>
            <a:ext cx="3095803"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Del script MySQL a Supabase, con los datos cargados</a:t>
            </a:r>
            <a:endParaRPr lang="en-US" sz="1200" dirty="0"/>
          </a:p>
        </p:txBody>
      </p:sp>
      <p:sp>
        <p:nvSpPr>
          <p:cNvPr id="25" name="Shape 23"/>
          <p:cNvSpPr/>
          <p:nvPr/>
        </p:nvSpPr>
        <p:spPr>
          <a:xfrm>
            <a:off x="4408984" y="3670300"/>
            <a:ext cx="3399433" cy="1803400"/>
          </a:xfrm>
          <a:prstGeom prst="roundRect">
            <a:avLst>
              <a:gd name="adj" fmla="val 6690"/>
            </a:avLst>
          </a:prstGeom>
          <a:solidFill>
            <a:srgbClr val="FFFFFF"/>
          </a:solidFill>
          <a:ln w="12700">
            <a:solidFill>
              <a:srgbClr val="DCE2EC"/>
            </a:solidFill>
            <a:prstDash val="solid"/>
          </a:ln>
        </p:spPr>
      </p:sp>
      <p:sp>
        <p:nvSpPr>
          <p:cNvPr id="26" name="Text 24"/>
          <p:cNvSpPr/>
          <p:nvPr/>
        </p:nvSpPr>
        <p:spPr>
          <a:xfrm>
            <a:off x="4605834" y="3867150"/>
            <a:ext cx="30959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Arial" pitchFamily="34" charset="0"/>
                <a:ea typeface="Arial" pitchFamily="34" charset="-122"/>
                <a:cs typeface="Arial" pitchFamily="34" charset="-120"/>
              </a:rPr>
              <a:t>Bloque 6 · diap. 17–21</a:t>
            </a:r>
            <a:endParaRPr lang="en-US" sz="1200" dirty="0"/>
          </a:p>
        </p:txBody>
      </p:sp>
      <p:sp>
        <p:nvSpPr>
          <p:cNvPr id="27" name="Text 25"/>
          <p:cNvSpPr/>
          <p:nvPr/>
        </p:nvSpPr>
        <p:spPr>
          <a:xfrm>
            <a:off x="4605834" y="4143970"/>
            <a:ext cx="3095905"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Arial" pitchFamily="34" charset="0"/>
                <a:ea typeface="Arial" pitchFamily="34" charset="-122"/>
                <a:cs typeface="Arial" pitchFamily="34" charset="-120"/>
              </a:rPr>
              <a:t>Python y demo</a:t>
            </a:r>
            <a:endParaRPr lang="en-US" sz="1800" dirty="0"/>
          </a:p>
        </p:txBody>
      </p:sp>
      <p:sp>
        <p:nvSpPr>
          <p:cNvPr id="28" name="Text 26"/>
          <p:cNvSpPr/>
          <p:nvPr/>
        </p:nvSpPr>
        <p:spPr>
          <a:xfrm>
            <a:off x="4605834" y="4470301"/>
            <a:ext cx="309590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Arial" pitchFamily="34" charset="0"/>
                <a:ea typeface="Arial" pitchFamily="34" charset="-122"/>
                <a:cs typeface="Arial" pitchFamily="34" charset="-120"/>
              </a:rPr>
              <a:t>Carga con pandas, consultas y escalabilidad</a:t>
            </a:r>
            <a:endParaRPr lang="en-US" sz="1200" dirty="0"/>
          </a:p>
        </p:txBody>
      </p:sp>
      <p:sp>
        <p:nvSpPr>
          <p:cNvPr id="29" name="Shape 27"/>
          <p:cNvSpPr/>
          <p:nvPr/>
        </p:nvSpPr>
        <p:spPr>
          <a:xfrm>
            <a:off x="7992566" y="3663950"/>
            <a:ext cx="3386634" cy="1816100"/>
          </a:xfrm>
          <a:prstGeom prst="roundRect">
            <a:avLst>
              <a:gd name="adj" fmla="val 6993"/>
            </a:avLst>
          </a:prstGeom>
          <a:solidFill>
            <a:srgbClr val="14213D"/>
          </a:solidFill>
          <a:ln/>
        </p:spPr>
      </p:sp>
      <p:sp>
        <p:nvSpPr>
          <p:cNvPr id="30" name="Text 28"/>
          <p:cNvSpPr/>
          <p:nvPr/>
        </p:nvSpPr>
        <p:spPr>
          <a:xfrm>
            <a:off x="8183066" y="3854450"/>
            <a:ext cx="30958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Arial" pitchFamily="34" charset="0"/>
                <a:ea typeface="Arial" pitchFamily="34" charset="-122"/>
                <a:cs typeface="Arial" pitchFamily="34" charset="-120"/>
              </a:rPr>
              <a:t>Bloque 7 · diap. 22–23</a:t>
            </a:r>
            <a:endParaRPr lang="en-US" sz="1200" dirty="0"/>
          </a:p>
        </p:txBody>
      </p:sp>
      <p:sp>
        <p:nvSpPr>
          <p:cNvPr id="31" name="Text 29"/>
          <p:cNvSpPr/>
          <p:nvPr/>
        </p:nvSpPr>
        <p:spPr>
          <a:xfrm>
            <a:off x="8183066" y="4131270"/>
            <a:ext cx="3095803" cy="28823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6F5F0"/>
                </a:solidFill>
                <a:latin typeface="Arial" pitchFamily="34" charset="0"/>
                <a:ea typeface="Arial" pitchFamily="34" charset="-122"/>
                <a:cs typeface="Arial" pitchFamily="34" charset="-120"/>
              </a:rPr>
              <a:t>Mejoras y cierre</a:t>
            </a:r>
            <a:endParaRPr lang="en-US" sz="1800" dirty="0"/>
          </a:p>
        </p:txBody>
      </p:sp>
      <p:sp>
        <p:nvSpPr>
          <p:cNvPr id="32" name="Text 30"/>
          <p:cNvSpPr/>
          <p:nvPr/>
        </p:nvSpPr>
        <p:spPr>
          <a:xfrm>
            <a:off x="8183066" y="4457601"/>
            <a:ext cx="309580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Arial" pitchFamily="34" charset="0"/>
                <a:ea typeface="Arial" pitchFamily="34" charset="-122"/>
                <a:cs typeface="Arial" pitchFamily="34" charset="-120"/>
              </a:rPr>
              <a:t>Qué mejoraríamos y preguntas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1 · </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3</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Qué nos pedía el enunciado</a:t>
            </a:r>
            <a:endParaRPr lang="en-US" sz="3600" dirty="0"/>
          </a:p>
        </p:txBody>
      </p:sp>
      <p:sp>
        <p:nvSpPr>
          <p:cNvPr id="5" name="Shape 3"/>
          <p:cNvSpPr/>
          <p:nvPr/>
        </p:nvSpPr>
        <p:spPr>
          <a:xfrm>
            <a:off x="819150" y="1676400"/>
            <a:ext cx="2495550" cy="1968500"/>
          </a:xfrm>
          <a:prstGeom prst="roundRect">
            <a:avLst>
              <a:gd name="adj" fmla="val 6129"/>
            </a:avLst>
          </a:prstGeom>
          <a:solidFill>
            <a:srgbClr val="FFFFFF"/>
          </a:solidFill>
          <a:ln w="12700">
            <a:solidFill>
              <a:srgbClr val="DCE2EC"/>
            </a:solidFill>
            <a:prstDash val="solid"/>
          </a:ln>
        </p:spPr>
      </p:sp>
      <p:sp>
        <p:nvSpPr>
          <p:cNvPr id="6" name="Text 4"/>
          <p:cNvSpPr/>
          <p:nvPr/>
        </p:nvSpPr>
        <p:spPr>
          <a:xfrm>
            <a:off x="1054100" y="1911350"/>
            <a:ext cx="2086419"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1</a:t>
            </a:r>
            <a:endParaRPr lang="en-US" sz="3200" dirty="0"/>
          </a:p>
        </p:txBody>
      </p:sp>
      <p:sp>
        <p:nvSpPr>
          <p:cNvPr id="7" name="Text 5"/>
          <p:cNvSpPr/>
          <p:nvPr/>
        </p:nvSpPr>
        <p:spPr>
          <a:xfrm>
            <a:off x="1054100" y="2581870"/>
            <a:ext cx="20864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Modelo E/R</a:t>
            </a:r>
            <a:endParaRPr lang="en-US" sz="1700" dirty="0"/>
          </a:p>
        </p:txBody>
      </p:sp>
      <p:sp>
        <p:nvSpPr>
          <p:cNvPr id="8" name="Text 6"/>
          <p:cNvSpPr/>
          <p:nvPr/>
        </p:nvSpPr>
        <p:spPr>
          <a:xfrm>
            <a:off x="1054100" y="2942530"/>
            <a:ext cx="208641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Entidades, atributos y relaciones</a:t>
            </a:r>
            <a:endParaRPr lang="en-US" sz="1300" dirty="0"/>
          </a:p>
        </p:txBody>
      </p:sp>
      <p:sp>
        <p:nvSpPr>
          <p:cNvPr id="9" name="Shape 7"/>
          <p:cNvSpPr/>
          <p:nvPr/>
        </p:nvSpPr>
        <p:spPr>
          <a:xfrm>
            <a:off x="3505200" y="1676400"/>
            <a:ext cx="2495550" cy="1968500"/>
          </a:xfrm>
          <a:prstGeom prst="roundRect">
            <a:avLst>
              <a:gd name="adj" fmla="val 6129"/>
            </a:avLst>
          </a:prstGeom>
          <a:solidFill>
            <a:srgbClr val="FFFFFF"/>
          </a:solidFill>
          <a:ln w="12700">
            <a:solidFill>
              <a:srgbClr val="DCE2EC"/>
            </a:solidFill>
            <a:prstDash val="solid"/>
          </a:ln>
        </p:spPr>
      </p:sp>
      <p:sp>
        <p:nvSpPr>
          <p:cNvPr id="10" name="Text 8"/>
          <p:cNvSpPr/>
          <p:nvPr/>
        </p:nvSpPr>
        <p:spPr>
          <a:xfrm>
            <a:off x="3740150" y="1911350"/>
            <a:ext cx="2086419"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2</a:t>
            </a:r>
            <a:endParaRPr lang="en-US" sz="3200" dirty="0"/>
          </a:p>
        </p:txBody>
      </p:sp>
      <p:sp>
        <p:nvSpPr>
          <p:cNvPr id="11" name="Text 9"/>
          <p:cNvSpPr/>
          <p:nvPr/>
        </p:nvSpPr>
        <p:spPr>
          <a:xfrm>
            <a:off x="3740150" y="2581870"/>
            <a:ext cx="20864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Modelo lógico</a:t>
            </a:r>
            <a:endParaRPr lang="en-US" sz="1700" dirty="0"/>
          </a:p>
        </p:txBody>
      </p:sp>
      <p:sp>
        <p:nvSpPr>
          <p:cNvPr id="12" name="Text 10"/>
          <p:cNvSpPr/>
          <p:nvPr/>
        </p:nvSpPr>
        <p:spPr>
          <a:xfrm>
            <a:off x="3740150" y="2942530"/>
            <a:ext cx="208641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Tablas, campos, PK y FK</a:t>
            </a:r>
            <a:endParaRPr lang="en-US" sz="1300" dirty="0"/>
          </a:p>
        </p:txBody>
      </p:sp>
      <p:sp>
        <p:nvSpPr>
          <p:cNvPr id="13" name="Shape 11"/>
          <p:cNvSpPr/>
          <p:nvPr/>
        </p:nvSpPr>
        <p:spPr>
          <a:xfrm>
            <a:off x="6191250" y="1676400"/>
            <a:ext cx="2495550" cy="1968500"/>
          </a:xfrm>
          <a:prstGeom prst="roundRect">
            <a:avLst>
              <a:gd name="adj" fmla="val 6129"/>
            </a:avLst>
          </a:prstGeom>
          <a:solidFill>
            <a:srgbClr val="FFFFFF"/>
          </a:solidFill>
          <a:ln w="12700">
            <a:solidFill>
              <a:srgbClr val="DCE2EC"/>
            </a:solidFill>
            <a:prstDash val="solid"/>
          </a:ln>
        </p:spPr>
      </p:sp>
      <p:sp>
        <p:nvSpPr>
          <p:cNvPr id="14" name="Text 12"/>
          <p:cNvSpPr/>
          <p:nvPr/>
        </p:nvSpPr>
        <p:spPr>
          <a:xfrm>
            <a:off x="6426200" y="1911350"/>
            <a:ext cx="2086419"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3</a:t>
            </a:r>
            <a:endParaRPr lang="en-US" sz="3200" dirty="0"/>
          </a:p>
        </p:txBody>
      </p:sp>
      <p:sp>
        <p:nvSpPr>
          <p:cNvPr id="15" name="Text 13"/>
          <p:cNvSpPr/>
          <p:nvPr/>
        </p:nvSpPr>
        <p:spPr>
          <a:xfrm>
            <a:off x="6426200" y="2581870"/>
            <a:ext cx="20864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Normalización</a:t>
            </a:r>
            <a:endParaRPr lang="en-US" sz="1700" dirty="0"/>
          </a:p>
        </p:txBody>
      </p:sp>
      <p:sp>
        <p:nvSpPr>
          <p:cNvPr id="16" name="Text 14"/>
          <p:cNvSpPr/>
          <p:nvPr/>
        </p:nvSpPr>
        <p:spPr>
          <a:xfrm>
            <a:off x="6426200" y="2942530"/>
            <a:ext cx="208641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Sin redundancia y con integridad</a:t>
            </a:r>
            <a:endParaRPr lang="en-US" sz="1300" dirty="0"/>
          </a:p>
        </p:txBody>
      </p:sp>
      <p:sp>
        <p:nvSpPr>
          <p:cNvPr id="17" name="Shape 15"/>
          <p:cNvSpPr/>
          <p:nvPr/>
        </p:nvSpPr>
        <p:spPr>
          <a:xfrm>
            <a:off x="8877300" y="1676400"/>
            <a:ext cx="2495550" cy="1968500"/>
          </a:xfrm>
          <a:prstGeom prst="roundRect">
            <a:avLst>
              <a:gd name="adj" fmla="val 6129"/>
            </a:avLst>
          </a:prstGeom>
          <a:solidFill>
            <a:srgbClr val="FFFFFF"/>
          </a:solidFill>
          <a:ln w="12700">
            <a:solidFill>
              <a:srgbClr val="DCE2EC"/>
            </a:solidFill>
            <a:prstDash val="solid"/>
          </a:ln>
        </p:spPr>
      </p:sp>
      <p:sp>
        <p:nvSpPr>
          <p:cNvPr id="18" name="Text 16"/>
          <p:cNvSpPr/>
          <p:nvPr/>
        </p:nvSpPr>
        <p:spPr>
          <a:xfrm>
            <a:off x="9112250" y="1911350"/>
            <a:ext cx="2086419"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4</a:t>
            </a:r>
            <a:endParaRPr lang="en-US" sz="3200" dirty="0"/>
          </a:p>
        </p:txBody>
      </p:sp>
      <p:sp>
        <p:nvSpPr>
          <p:cNvPr id="19" name="Text 17"/>
          <p:cNvSpPr/>
          <p:nvPr/>
        </p:nvSpPr>
        <p:spPr>
          <a:xfrm>
            <a:off x="9112250" y="2581870"/>
            <a:ext cx="20864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Base de datos</a:t>
            </a:r>
            <a:endParaRPr lang="en-US" sz="1700" dirty="0"/>
          </a:p>
        </p:txBody>
      </p:sp>
      <p:sp>
        <p:nvSpPr>
          <p:cNvPr id="20" name="Text 18"/>
          <p:cNvSpPr/>
          <p:nvPr/>
        </p:nvSpPr>
        <p:spPr>
          <a:xfrm>
            <a:off x="9112250" y="2942530"/>
            <a:ext cx="208641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PostgreSQL alojado en un servidor</a:t>
            </a:r>
            <a:endParaRPr lang="en-US" sz="1300" dirty="0"/>
          </a:p>
        </p:txBody>
      </p:sp>
      <p:sp>
        <p:nvSpPr>
          <p:cNvPr id="21" name="Text 19"/>
          <p:cNvSpPr/>
          <p:nvPr/>
        </p:nvSpPr>
        <p:spPr>
          <a:xfrm>
            <a:off x="812800" y="4000500"/>
            <a:ext cx="10566400" cy="990600"/>
          </a:xfrm>
          <a:prstGeom prst="roundRect">
            <a:avLst>
              <a:gd name="adj" fmla="val 12821"/>
            </a:avLst>
          </a:prstGeom>
          <a:solidFill>
            <a:srgbClr val="14213D"/>
          </a:solidFill>
          <a:ln/>
        </p:spPr>
        <p:txBody>
          <a:bodyPr wrap="none" lIns="242203" tIns="191403" rIns="242203" bIns="191403" rtlCol="0" anchor="ctr">
            <a:normAutofit/>
          </a:bodyPr>
          <a:lstStyle/>
          <a:p>
            <a:pPr algn="l" indent="0" marL="0">
              <a:lnSpc>
                <a:spcPts val="2100"/>
              </a:lnSpc>
              <a:buNone/>
            </a:pPr>
            <a:r>
              <a:rPr lang="en-US" sz="1500" b="1" dirty="0">
                <a:solidFill>
                  <a:srgbClr val="F2A65A"/>
                </a:solidFill>
                <a:latin typeface="Arial" pitchFamily="34" charset="0"/>
                <a:ea typeface="Arial" pitchFamily="34" charset="-122"/>
                <a:cs typeface="Arial" pitchFamily="34" charset="-120"/>
              </a:rPr>
              <a:t>Nuestro orden</a:t>
            </a:r>
            <a:endParaRPr lang="en-US" sz="1500" dirty="0"/>
          </a:p>
        </p:txBody>
      </p:sp>
      <p:sp>
        <p:nvSpPr>
          <p:cNvPr id="22" name="Text 20"/>
          <p:cNvSpPr/>
          <p:nvPr/>
        </p:nvSpPr>
        <p:spPr>
          <a:xfrm>
            <a:off x="2602607" y="4305895"/>
            <a:ext cx="8752007" cy="481905"/>
          </a:xfrm>
          <a:prstGeom prst="rect">
            <a:avLst/>
          </a:prstGeom>
          <a:noFill/>
          <a:ln/>
        </p:spPr>
        <p:txBody>
          <a:bodyPr wrap="square" lIns="0" tIns="0" rIns="0" bIns="0" rtlCol="0" anchor="t">
            <a:normAutofit/>
          </a:bodyPr>
          <a:lstStyle/>
          <a:p>
            <a:pPr algn="l" indent="0" marL="0">
              <a:lnSpc>
                <a:spcPts val="1811"/>
              </a:lnSpc>
              <a:buNone/>
            </a:pPr>
            <a:r>
              <a:rPr lang="en-US" sz="1294" dirty="0">
                <a:solidFill>
                  <a:srgbClr val="F6F5F0"/>
                </a:solidFill>
                <a:latin typeface="Arial" pitchFamily="34" charset="0"/>
                <a:ea typeface="Arial" pitchFamily="34" charset="-122"/>
                <a:cs typeface="Arial" pitchFamily="34" charset="-120"/>
              </a:rPr>
              <a:t>Como partíamos de datos reales, </a:t>
            </a:r>
            <a:r>
              <a:rPr lang="en-US" sz="1294" b="1" dirty="0">
                <a:solidFill>
                  <a:srgbClr val="F6F5F0"/>
                </a:solidFill>
                <a:latin typeface="Arial" pitchFamily="34" charset="0"/>
                <a:ea typeface="Arial" pitchFamily="34" charset="-122"/>
                <a:cs typeface="Arial" pitchFamily="34" charset="-120"/>
              </a:rPr>
              <a:t>normalizamos primero</a:t>
            </a:r>
            <a:r>
              <a:rPr lang="en-US" sz="1294" dirty="0">
                <a:solidFill>
                  <a:srgbClr val="F6F5F0"/>
                </a:solidFill>
                <a:latin typeface="Arial" pitchFamily="34" charset="0"/>
                <a:ea typeface="Arial" pitchFamily="34" charset="-122"/>
                <a:cs typeface="Arial" pitchFamily="34" charset="-120"/>
              </a:rPr>
              <a:t> y de ahí salió el E/R. Al final volvimos a comprobar la normalización sobre las tablas.</a:t>
            </a:r>
            <a:endParaRPr lang="en-US" sz="129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Los datos de partida: 5 CSV</a:t>
            </a:r>
            <a:endParaRPr lang="en-US" sz="3600" dirty="0"/>
          </a:p>
        </p:txBody>
      </p:sp>
      <p:sp>
        <p:nvSpPr>
          <p:cNvPr id="3" name="Shape 1"/>
          <p:cNvSpPr/>
          <p:nvPr/>
        </p:nvSpPr>
        <p:spPr>
          <a:xfrm>
            <a:off x="812800" y="1595041"/>
            <a:ext cx="10566400" cy="1343025"/>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07741"/>
          <a:ext cx="10553700" cy="1330325"/>
        </p:xfrm>
        <a:graphic>
          <a:graphicData uri="http://schemas.openxmlformats.org/drawingml/2006/table">
            <a:tbl>
              <a:tblPr/>
              <a:tblGrid>
                <a:gridCol w="2321814"/>
                <a:gridCol w="1477518"/>
                <a:gridCol w="1477518"/>
                <a:gridCol w="1266444"/>
                <a:gridCol w="1266444"/>
                <a:gridCol w="1371981"/>
                <a:gridCol w="1371981"/>
              </a:tblGrid>
              <a:tr h="332581">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Promoción</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Campus</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HLF</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EDA</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Jafet Casals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Septiembre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18/09/2023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Madrid</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No 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Jorge Manzanares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Septiembre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18/09/2023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Madrid</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No 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Onofre Adadia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Septiembre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18/09/2023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Madrid</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Apto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812800" y="3217466"/>
            <a:ext cx="3403600" cy="1500981"/>
          </a:xfrm>
          <a:prstGeom prst="roundRect">
            <a:avLst>
              <a:gd name="adj" fmla="val 8461"/>
            </a:avLst>
          </a:prstGeom>
          <a:solidFill>
            <a:srgbClr val="EAEEF6"/>
          </a:solidFill>
          <a:ln/>
        </p:spPr>
      </p:sp>
      <p:sp>
        <p:nvSpPr>
          <p:cNvPr id="6" name="Text 3"/>
          <p:cNvSpPr/>
          <p:nvPr/>
        </p:nvSpPr>
        <p:spPr>
          <a:xfrm>
            <a:off x="1016000" y="3420666"/>
            <a:ext cx="308711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4 clases</a:t>
            </a:r>
            <a:endParaRPr lang="en-US" sz="3200" dirty="0"/>
          </a:p>
        </p:txBody>
      </p:sp>
      <p:sp>
        <p:nvSpPr>
          <p:cNvPr id="7" name="Text 4"/>
          <p:cNvSpPr/>
          <p:nvPr/>
        </p:nvSpPr>
        <p:spPr>
          <a:xfrm>
            <a:off x="1016000" y="4053086"/>
            <a:ext cx="308711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52 alumnos: 2 de Data Science y 2 de Full Stack, en Madrid y Valencia</a:t>
            </a:r>
            <a:endParaRPr lang="en-US" sz="1300" dirty="0"/>
          </a:p>
        </p:txBody>
      </p:sp>
      <p:sp>
        <p:nvSpPr>
          <p:cNvPr id="8" name="Shape 5"/>
          <p:cNvSpPr/>
          <p:nvPr/>
        </p:nvSpPr>
        <p:spPr>
          <a:xfrm>
            <a:off x="4394200" y="3217466"/>
            <a:ext cx="3403600" cy="1500981"/>
          </a:xfrm>
          <a:prstGeom prst="roundRect">
            <a:avLst>
              <a:gd name="adj" fmla="val 8461"/>
            </a:avLst>
          </a:prstGeom>
          <a:solidFill>
            <a:srgbClr val="EAEEF6"/>
          </a:solidFill>
          <a:ln/>
        </p:spPr>
      </p:sp>
      <p:sp>
        <p:nvSpPr>
          <p:cNvPr id="9" name="Text 6"/>
          <p:cNvSpPr/>
          <p:nvPr/>
        </p:nvSpPr>
        <p:spPr>
          <a:xfrm>
            <a:off x="4597400" y="3420666"/>
            <a:ext cx="308711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1 claustro</a:t>
            </a:r>
            <a:endParaRPr lang="en-US" sz="3200" dirty="0"/>
          </a:p>
        </p:txBody>
      </p:sp>
      <p:sp>
        <p:nvSpPr>
          <p:cNvPr id="10" name="Text 7"/>
          <p:cNvSpPr/>
          <p:nvPr/>
        </p:nvSpPr>
        <p:spPr>
          <a:xfrm>
            <a:off x="4597400" y="4053086"/>
            <a:ext cx="308711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10 profesores con rol (TA / LI), promoción, campus y modalidad</a:t>
            </a:r>
            <a:endParaRPr lang="en-US" sz="1300" dirty="0"/>
          </a:p>
        </p:txBody>
      </p:sp>
      <p:sp>
        <p:nvSpPr>
          <p:cNvPr id="11" name="Shape 8"/>
          <p:cNvSpPr/>
          <p:nvPr/>
        </p:nvSpPr>
        <p:spPr>
          <a:xfrm>
            <a:off x="7975600" y="3217466"/>
            <a:ext cx="3403600" cy="1500981"/>
          </a:xfrm>
          <a:prstGeom prst="roundRect">
            <a:avLst>
              <a:gd name="adj" fmla="val 8461"/>
            </a:avLst>
          </a:prstGeom>
          <a:solidFill>
            <a:srgbClr val="EAEEF6"/>
          </a:solidFill>
          <a:ln/>
        </p:spPr>
      </p:sp>
      <p:sp>
        <p:nvSpPr>
          <p:cNvPr id="12" name="Text 9"/>
          <p:cNvSpPr/>
          <p:nvPr/>
        </p:nvSpPr>
        <p:spPr>
          <a:xfrm>
            <a:off x="8178800" y="3420666"/>
            <a:ext cx="308711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Arial" pitchFamily="34" charset="0"/>
                <a:ea typeface="Arial" pitchFamily="34" charset="-122"/>
                <a:cs typeface="Arial" pitchFamily="34" charset="-120"/>
              </a:rPr>
              <a:t>5 notas</a:t>
            </a:r>
            <a:endParaRPr lang="en-US" sz="3200" dirty="0"/>
          </a:p>
        </p:txBody>
      </p:sp>
      <p:sp>
        <p:nvSpPr>
          <p:cNvPr id="13" name="Text 10"/>
          <p:cNvSpPr/>
          <p:nvPr/>
        </p:nvSpPr>
        <p:spPr>
          <a:xfrm>
            <a:off x="8178800" y="4053086"/>
            <a:ext cx="308711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por alumno, una columna por proyecto: Apto o No Apto</a:t>
            </a:r>
            <a:endParaRPr lang="en-US" sz="13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1 </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¿Qué falla si lo guardamos tal cual?</a:t>
            </a:r>
            <a:endParaRPr lang="en-US" sz="3600" dirty="0"/>
          </a:p>
        </p:txBody>
      </p:sp>
      <p:sp>
        <p:nvSpPr>
          <p:cNvPr id="3" name="Shape 1"/>
          <p:cNvSpPr/>
          <p:nvPr/>
        </p:nvSpPr>
        <p:spPr>
          <a:xfrm>
            <a:off x="812800" y="1595041"/>
            <a:ext cx="10566400" cy="2328466"/>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07741"/>
          <a:ext cx="10553700" cy="2315766"/>
        </p:xfrm>
        <a:graphic>
          <a:graphicData uri="http://schemas.openxmlformats.org/drawingml/2006/table">
            <a:tbl>
              <a:tblPr/>
              <a:tblGrid>
                <a:gridCol w="3166110"/>
                <a:gridCol w="7387590"/>
              </a:tblGrid>
              <a:tr h="385961">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Problema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Ejemplo con nuestros datos</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Redundancia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“Septiembre · 18/09/2023 · Madrid” se repite en los 15 alumnos de la clase 1</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Grupos repetidos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5 columnas Proyecto_X para el mismo dato: un proyecto nuevo obliga a cambiar la tabla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Al actualizar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Cambiar la fecha de una promoción = cambiar 15 filas; si se olvida una, se contradicen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Al insertar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 se puede crear una promoción que todavía no tiene alumnos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Al borrar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Si se borra el último alumno, se pierden los datos de su promoción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20290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E"/>
                </a:solidFill>
                <a:latin typeface="Arial" pitchFamily="34" charset="0"/>
                <a:ea typeface="Arial" pitchFamily="34" charset="-122"/>
                <a:cs typeface="Arial" pitchFamily="34" charset="-120"/>
              </a:rPr>
              <a:t>La </a:t>
            </a:r>
            <a:r>
              <a:rPr lang="en-US" sz="1600" b="1" dirty="0">
                <a:solidFill>
                  <a:srgbClr val="2F6FEB"/>
                </a:solidFill>
                <a:latin typeface="Arial" pitchFamily="34" charset="0"/>
                <a:ea typeface="Arial" pitchFamily="34" charset="-122"/>
                <a:cs typeface="Arial" pitchFamily="34" charset="-120"/>
              </a:rPr>
              <a:t>normalización</a:t>
            </a:r>
            <a:r>
              <a:rPr lang="en-US" sz="1600" dirty="0">
                <a:solidFill>
                  <a:srgbClr val="3E4A5E"/>
                </a:solidFill>
                <a:latin typeface="Arial" pitchFamily="34" charset="0"/>
                <a:ea typeface="Arial" pitchFamily="34" charset="-122"/>
                <a:cs typeface="Arial" pitchFamily="34" charset="-120"/>
              </a:rPr>
              <a:t> lo resuelve en tres pasos: 1FN, 2FN y 3FN.</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1</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1FN: un valor por celda, sin columnas repetidas</a:t>
            </a:r>
            <a:endParaRPr lang="en-US" sz="3600" dirty="0"/>
          </a:p>
        </p:txBody>
      </p:sp>
      <p:sp>
        <p:nvSpPr>
          <p:cNvPr id="3" name="Text 1"/>
          <p:cNvSpPr/>
          <p:nvPr/>
        </p:nvSpPr>
        <p:spPr>
          <a:xfrm>
            <a:off x="812800" y="15696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E"/>
                </a:solidFill>
                <a:latin typeface="Arial" pitchFamily="34" charset="0"/>
                <a:ea typeface="Arial" pitchFamily="34" charset="-122"/>
                <a:cs typeface="Arial" pitchFamily="34" charset="-120"/>
              </a:rPr>
              <a:t>Las 5 columnas de notas se convierten en </a:t>
            </a:r>
            <a:r>
              <a:rPr lang="en-US" sz="1600" b="1" dirty="0">
                <a:solidFill>
                  <a:srgbClr val="14213D"/>
                </a:solidFill>
                <a:latin typeface="Arial" pitchFamily="34" charset="0"/>
                <a:ea typeface="Arial" pitchFamily="34" charset="-122"/>
                <a:cs typeface="Arial" pitchFamily="34" charset="-120"/>
              </a:rPr>
              <a:t>filas</a:t>
            </a:r>
            <a:r>
              <a:rPr lang="en-US" sz="1600" dirty="0">
                <a:solidFill>
                  <a:srgbClr val="3E4A5E"/>
                </a:solidFill>
                <a:latin typeface="Arial" pitchFamily="34" charset="0"/>
                <a:ea typeface="Arial" pitchFamily="34" charset="-122"/>
                <a:cs typeface="Arial" pitchFamily="34" charset="-120"/>
              </a:rPr>
              <a:t>: una por cada alumno y proyecto.</a:t>
            </a:r>
            <a:endParaRPr lang="en-US" sz="1600" dirty="0"/>
          </a:p>
        </p:txBody>
      </p:sp>
      <p:sp>
        <p:nvSpPr>
          <p:cNvPr id="4" name="Text 2"/>
          <p:cNvSpPr/>
          <p:nvPr/>
        </p:nvSpPr>
        <p:spPr>
          <a:xfrm>
            <a:off x="812800" y="2287687"/>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Arial" pitchFamily="34" charset="0"/>
                <a:ea typeface="Arial" pitchFamily="34" charset="-122"/>
                <a:cs typeface="Arial" pitchFamily="34" charset="-120"/>
              </a:rPr>
              <a:t>ANTES</a:t>
            </a:r>
            <a:endParaRPr lang="en-US" sz="1200" dirty="0"/>
          </a:p>
        </p:txBody>
      </p:sp>
      <p:sp>
        <p:nvSpPr>
          <p:cNvPr id="5" name="Shape 3"/>
          <p:cNvSpPr/>
          <p:nvPr/>
        </p:nvSpPr>
        <p:spPr>
          <a:xfrm>
            <a:off x="812800" y="2602607"/>
            <a:ext cx="4724400" cy="1090513"/>
          </a:xfrm>
          <a:prstGeom prst="rect">
            <a:avLst/>
          </a:prstGeom>
          <a:solidFill>
            <a:srgbClr val="FFFF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15307"/>
          <a:ext cx="4711700" cy="1077813"/>
        </p:xfrm>
        <a:graphic>
          <a:graphicData uri="http://schemas.openxmlformats.org/drawingml/2006/table">
            <a:tbl>
              <a:tblPr/>
              <a:tblGrid>
                <a:gridCol w="1601978"/>
                <a:gridCol w="1036574"/>
                <a:gridCol w="1225042"/>
                <a:gridCol w="848106"/>
              </a:tblGrid>
              <a:tr h="35927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Alumno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HLF</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EDA</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Jafet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No 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Jorge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No 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pic>
        <p:nvPicPr>
          <p:cNvPr id="7" name="Image 0" descr="arrow-right">    </p:cNvPr>
          <p:cNvPicPr>
            <a:picLocks noChangeAspect="1"/>
          </p:cNvPicPr>
          <p:nvPr/>
        </p:nvPicPr>
        <p:blipFill>
          <a:blip r:embed="rId1"/>
          <a:srcRect l="0" r="0" t="0" b="0"/>
          <a:stretch/>
        </p:blipFill>
        <p:spPr>
          <a:xfrm>
            <a:off x="5791200" y="2812653"/>
            <a:ext cx="609600" cy="355600"/>
          </a:xfrm>
          <a:prstGeom prst="rect">
            <a:avLst/>
          </a:prstGeom>
        </p:spPr>
      </p:pic>
      <p:sp>
        <p:nvSpPr>
          <p:cNvPr id="8" name="Text 4"/>
          <p:cNvSpPr/>
          <p:nvPr/>
        </p:nvSpPr>
        <p:spPr>
          <a:xfrm>
            <a:off x="6654800" y="210810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D"/>
                </a:solidFill>
                <a:latin typeface="Arial" pitchFamily="34" charset="0"/>
                <a:ea typeface="Arial" pitchFamily="34" charset="-122"/>
                <a:cs typeface="Arial" pitchFamily="34" charset="-120"/>
              </a:rPr>
              <a:t>DESPUÉS</a:t>
            </a:r>
            <a:endParaRPr lang="en-US" sz="1200" dirty="0"/>
          </a:p>
        </p:txBody>
      </p:sp>
      <p:sp>
        <p:nvSpPr>
          <p:cNvPr id="9" name="Shape 5"/>
          <p:cNvSpPr/>
          <p:nvPr/>
        </p:nvSpPr>
        <p:spPr>
          <a:xfrm>
            <a:off x="6654800" y="2423021"/>
            <a:ext cx="4724400" cy="1449784"/>
          </a:xfrm>
          <a:prstGeom prst="rect">
            <a:avLst/>
          </a:prstGeom>
          <a:solidFill>
            <a:srgbClr val="FFFFFF"/>
          </a:solidFill>
          <a:ln/>
        </p:spPr>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667500" y="2435721"/>
          <a:ext cx="4711700" cy="1437084"/>
        </p:xfrm>
        <a:graphic>
          <a:graphicData uri="http://schemas.openxmlformats.org/drawingml/2006/table">
            <a:tbl>
              <a:tblPr/>
              <a:tblGrid>
                <a:gridCol w="1413510"/>
                <a:gridCol w="1413510"/>
                <a:gridCol w="1884680"/>
              </a:tblGrid>
              <a:tr h="35927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Alumno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Proyecto</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Evaluación</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Jafet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HLF</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Jafet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EDA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No 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Jorge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HLF</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Apto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6"/>
          <p:cNvSpPr/>
          <p:nvPr/>
        </p:nvSpPr>
        <p:spPr>
          <a:xfrm>
            <a:off x="812800" y="4126805"/>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Arial" pitchFamily="34" charset="0"/>
                <a:ea typeface="Arial" pitchFamily="34" charset="-122"/>
                <a:cs typeface="Arial" pitchFamily="34" charset="-120"/>
              </a:rPr>
              <a:t>Un proyecto nuevo = filas nuevas, no columnas nuevas. Las fechas pasan de texto (18/09/2023) a tipo </a:t>
            </a:r>
            <a:r>
              <a:rPr lang="en-US" sz="1400" b="1" dirty="0">
                <a:solidFill>
                  <a:srgbClr val="14213D"/>
                </a:solidFill>
                <a:latin typeface="Arial" pitchFamily="34" charset="0"/>
                <a:ea typeface="Arial" pitchFamily="34" charset="-122"/>
                <a:cs typeface="Arial" pitchFamily="34" charset="-120"/>
              </a:rPr>
              <a:t>DATE</a:t>
            </a:r>
            <a:r>
              <a:rPr lang="en-US" sz="1400" dirty="0">
                <a:solidFill>
                  <a:srgbClr val="3E4A5E"/>
                </a:solidFill>
                <a:latin typeface="Arial" pitchFamily="34" charset="0"/>
                <a:ea typeface="Arial" pitchFamily="34" charset="-122"/>
                <a:cs typeface="Arial" pitchFamily="34" charset="-120"/>
              </a:rPr>
              <a:t>.</a:t>
            </a:r>
            <a:endParaRPr lang="en-US" sz="1400" dirty="0"/>
          </a:p>
        </p:txBody>
      </p:sp>
      <p:sp>
        <p:nvSpPr>
          <p:cNvPr id="12"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2 </a:t>
            </a:r>
            <a:endParaRPr lang="en-US" sz="1200" dirty="0"/>
          </a:p>
        </p:txBody>
      </p:sp>
      <p:sp>
        <p:nvSpPr>
          <p:cNvPr id="13"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379"/>
            <a:ext cx="7848600" cy="2386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2 </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7</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2FN y 3FN: cada dato en su tabla</a:t>
            </a:r>
            <a:endParaRPr lang="en-US" sz="3600" dirty="0"/>
          </a:p>
        </p:txBody>
      </p:sp>
      <p:sp>
        <p:nvSpPr>
          <p:cNvPr id="5" name="Shape 3"/>
          <p:cNvSpPr/>
          <p:nvPr/>
        </p:nvSpPr>
        <p:spPr>
          <a:xfrm>
            <a:off x="819150" y="2235200"/>
            <a:ext cx="5168900" cy="2387600"/>
          </a:xfrm>
          <a:prstGeom prst="roundRect">
            <a:avLst>
              <a:gd name="adj" fmla="val 5053"/>
            </a:avLst>
          </a:prstGeom>
          <a:solidFill>
            <a:srgbClr val="FFFFFF"/>
          </a:solidFill>
          <a:ln w="12700">
            <a:solidFill>
              <a:srgbClr val="DCE2EC"/>
            </a:solidFill>
            <a:prstDash val="solid"/>
          </a:ln>
        </p:spPr>
      </p:sp>
      <p:sp>
        <p:nvSpPr>
          <p:cNvPr id="6" name="Text 4"/>
          <p:cNvSpPr/>
          <p:nvPr/>
        </p:nvSpPr>
        <p:spPr>
          <a:xfrm>
            <a:off x="1079500" y="24955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2FN · DEPENDE DE TODA LA CLAVE</a:t>
            </a:r>
            <a:endParaRPr lang="en-US" sz="1200" dirty="0"/>
          </a:p>
        </p:txBody>
      </p:sp>
      <p:sp>
        <p:nvSpPr>
          <p:cNvPr id="7" name="Text 5"/>
          <p:cNvSpPr/>
          <p:nvPr/>
        </p:nvSpPr>
        <p:spPr>
          <a:xfrm>
            <a:off x="1079500" y="2810470"/>
            <a:ext cx="4787646"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E"/>
                </a:solidFill>
                <a:latin typeface="Arial" pitchFamily="34" charset="0"/>
                <a:ea typeface="Arial" pitchFamily="34" charset="-122"/>
                <a:cs typeface="Arial" pitchFamily="34" charset="-120"/>
              </a:rPr>
              <a:t>La clave es (alumno, proyecto). Nombre y email dependen solo del alumno → tabla </a:t>
            </a:r>
            <a:r>
              <a:rPr lang="en-US" sz="1400" b="1" dirty="0">
                <a:solidFill>
                  <a:srgbClr val="14213D"/>
                </a:solidFill>
                <a:latin typeface="Arial" pitchFamily="34" charset="0"/>
                <a:ea typeface="Arial" pitchFamily="34" charset="-122"/>
                <a:cs typeface="Arial" pitchFamily="34" charset="-120"/>
              </a:rPr>
              <a:t>alumnos</a:t>
            </a:r>
            <a:r>
              <a:rPr lang="en-US" sz="1400" dirty="0">
                <a:solidFill>
                  <a:srgbClr val="3E4A5E"/>
                </a:solidFill>
                <a:latin typeface="Arial" pitchFamily="34" charset="0"/>
                <a:ea typeface="Arial" pitchFamily="34" charset="-122"/>
                <a:cs typeface="Arial" pitchFamily="34" charset="-120"/>
              </a:rPr>
              <a:t>. El nombre del proyecto, solo del proyecto → </a:t>
            </a:r>
            <a:r>
              <a:rPr lang="en-US" sz="1400" b="1" dirty="0">
                <a:solidFill>
                  <a:srgbClr val="14213D"/>
                </a:solidFill>
                <a:latin typeface="Arial" pitchFamily="34" charset="0"/>
                <a:ea typeface="Arial" pitchFamily="34" charset="-122"/>
                <a:cs typeface="Arial" pitchFamily="34" charset="-120"/>
              </a:rPr>
              <a:t>proyectos</a:t>
            </a:r>
            <a:r>
              <a:rPr lang="en-US" sz="1400" dirty="0">
                <a:solidFill>
                  <a:srgbClr val="3E4A5E"/>
                </a:solidFill>
                <a:latin typeface="Arial" pitchFamily="34" charset="0"/>
                <a:ea typeface="Arial" pitchFamily="34" charset="-122"/>
                <a:cs typeface="Arial" pitchFamily="34" charset="-120"/>
              </a:rPr>
              <a:t>. La evaluación depende de los dos → se queda en </a:t>
            </a:r>
            <a:r>
              <a:rPr lang="en-US" sz="1400" b="1" dirty="0">
                <a:solidFill>
                  <a:srgbClr val="14213D"/>
                </a:solidFill>
                <a:latin typeface="Arial" pitchFamily="34" charset="0"/>
                <a:ea typeface="Arial" pitchFamily="34" charset="-122"/>
                <a:cs typeface="Arial" pitchFamily="34" charset="-120"/>
              </a:rPr>
              <a:t>alumnosProyectos</a:t>
            </a:r>
            <a:r>
              <a:rPr lang="en-US" sz="1400" dirty="0">
                <a:solidFill>
                  <a:srgbClr val="14213D"/>
                </a:solidFill>
                <a:latin typeface="Arial" pitchFamily="34" charset="0"/>
                <a:ea typeface="Arial" pitchFamily="34" charset="-122"/>
                <a:cs typeface="Arial" pitchFamily="34" charset="-120"/>
              </a:rPr>
              <a:t> (la relación entre alumnos y proyectos)</a:t>
            </a:r>
            <a:r>
              <a:rPr lang="en-US" sz="1400" dirty="0">
                <a:solidFill>
                  <a:srgbClr val="3E4A5E"/>
                </a:solidFill>
                <a:latin typeface="Arial" pitchFamily="34" charset="0"/>
                <a:ea typeface="Arial" pitchFamily="34" charset="-122"/>
                <a:cs typeface="Arial" pitchFamily="34" charset="-120"/>
              </a:rPr>
              <a:t>. </a:t>
            </a:r>
            <a:endParaRPr lang="en-US" sz="1400" dirty="0"/>
          </a:p>
        </p:txBody>
      </p:sp>
      <p:sp>
        <p:nvSpPr>
          <p:cNvPr id="8" name="Shape 6"/>
          <p:cNvSpPr/>
          <p:nvPr/>
        </p:nvSpPr>
        <p:spPr>
          <a:xfrm>
            <a:off x="6203950" y="2235200"/>
            <a:ext cx="5168900" cy="2387600"/>
          </a:xfrm>
          <a:prstGeom prst="roundRect">
            <a:avLst>
              <a:gd name="adj" fmla="val 5053"/>
            </a:avLst>
          </a:prstGeom>
          <a:solidFill>
            <a:srgbClr val="FFFFFF"/>
          </a:solidFill>
          <a:ln w="12700">
            <a:solidFill>
              <a:srgbClr val="DCE2EC"/>
            </a:solidFill>
            <a:prstDash val="solid"/>
          </a:ln>
        </p:spPr>
      </p:sp>
      <p:sp>
        <p:nvSpPr>
          <p:cNvPr id="9" name="Text 7"/>
          <p:cNvSpPr/>
          <p:nvPr/>
        </p:nvSpPr>
        <p:spPr>
          <a:xfrm>
            <a:off x="6464300" y="24955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3FN · NADA DEPENDE DE OTRO DATO</a:t>
            </a:r>
            <a:endParaRPr lang="en-US" sz="1200" dirty="0"/>
          </a:p>
        </p:txBody>
      </p:sp>
      <p:sp>
        <p:nvSpPr>
          <p:cNvPr id="10" name="Text 8"/>
          <p:cNvSpPr/>
          <p:nvPr/>
        </p:nvSpPr>
        <p:spPr>
          <a:xfrm>
            <a:off x="6464300" y="2810470"/>
            <a:ext cx="4787646"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E"/>
                </a:solidFill>
                <a:latin typeface="Arial" pitchFamily="34" charset="0"/>
                <a:ea typeface="Arial" pitchFamily="34" charset="-122"/>
                <a:cs typeface="Arial" pitchFamily="34" charset="-120"/>
              </a:rPr>
              <a:t>La fecha, el campus y la vertical no son del alumno: son de la </a:t>
            </a:r>
            <a:r>
              <a:rPr lang="en-US" sz="1400" b="1" dirty="0">
                <a:solidFill>
                  <a:srgbClr val="14213D"/>
                </a:solidFill>
                <a:latin typeface="Arial" pitchFamily="34" charset="0"/>
                <a:ea typeface="Arial" pitchFamily="34" charset="-122"/>
                <a:cs typeface="Arial" pitchFamily="34" charset="-120"/>
              </a:rPr>
              <a:t>promoción</a:t>
            </a:r>
            <a:r>
              <a:rPr lang="en-US" sz="1400" dirty="0">
                <a:solidFill>
                  <a:srgbClr val="3E4A5E"/>
                </a:solidFill>
                <a:latin typeface="Arial" pitchFamily="34" charset="0"/>
                <a:ea typeface="Arial" pitchFamily="34" charset="-122"/>
                <a:cs typeface="Arial" pitchFamily="34" charset="-120"/>
              </a:rPr>
              <a:t> (alumno → promoción → fecha). Salen a su tabla y se enlazan con </a:t>
            </a:r>
            <a:r>
              <a:rPr lang="en-US" sz="1400" b="1" dirty="0">
                <a:solidFill>
                  <a:srgbClr val="14213D"/>
                </a:solidFill>
                <a:latin typeface="Arial" pitchFamily="34" charset="0"/>
                <a:ea typeface="Arial" pitchFamily="34" charset="-122"/>
                <a:cs typeface="Arial" pitchFamily="34" charset="-120"/>
              </a:rPr>
              <a:t>alumnosPromocion</a:t>
            </a:r>
            <a:r>
              <a:rPr lang="en-US" sz="1400" dirty="0">
                <a:solidFill>
                  <a:srgbClr val="3E4A5E"/>
                </a:solidFill>
                <a:latin typeface="Arial" pitchFamily="34" charset="0"/>
                <a:ea typeface="Arial" pitchFamily="34" charset="-122"/>
                <a:cs typeface="Arial" pitchFamily="34" charset="-120"/>
              </a:rPr>
              <a:t>. Igual con el claustro.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4 entidades y 4 relaciones N:M</a:t>
            </a:r>
            <a:endParaRPr lang="en-US" sz="3600" dirty="0"/>
          </a:p>
        </p:txBody>
      </p:sp>
      <p:sp>
        <p:nvSpPr>
          <p:cNvPr id="3" name="Shape 1"/>
          <p:cNvSpPr/>
          <p:nvPr/>
        </p:nvSpPr>
        <p:spPr>
          <a:xfrm>
            <a:off x="812800" y="1595041"/>
            <a:ext cx="2527300" cy="1236861"/>
          </a:xfrm>
          <a:prstGeom prst="roundRect">
            <a:avLst>
              <a:gd name="adj" fmla="val 10268"/>
            </a:avLst>
          </a:prstGeom>
          <a:solidFill>
            <a:srgbClr val="14213D"/>
          </a:solidFill>
          <a:ln/>
        </p:spPr>
      </p:sp>
      <p:sp>
        <p:nvSpPr>
          <p:cNvPr id="4" name="Text 2"/>
          <p:cNvSpPr/>
          <p:nvPr/>
        </p:nvSpPr>
        <p:spPr>
          <a:xfrm>
            <a:off x="1016000" y="1798241"/>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0"/>
                </a:solidFill>
                <a:latin typeface="Arial" pitchFamily="34" charset="0"/>
                <a:ea typeface="Arial" pitchFamily="34" charset="-122"/>
                <a:cs typeface="Arial" pitchFamily="34" charset="-120"/>
              </a:rPr>
              <a:t>Alumnos</a:t>
            </a:r>
            <a:endParaRPr lang="en-US" sz="2000" dirty="0"/>
          </a:p>
        </p:txBody>
      </p:sp>
      <p:sp>
        <p:nvSpPr>
          <p:cNvPr id="5" name="Text 3"/>
          <p:cNvSpPr/>
          <p:nvPr/>
        </p:nvSpPr>
        <p:spPr>
          <a:xfrm>
            <a:off x="1016000" y="2166541"/>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Arial" pitchFamily="34" charset="0"/>
                <a:ea typeface="Arial" pitchFamily="34" charset="-122"/>
                <a:cs typeface="Arial" pitchFamily="34" charset="-120"/>
              </a:rPr>
              <a:t>Id, Nombre, Email</a:t>
            </a:r>
            <a:endParaRPr lang="en-US" sz="1300" dirty="0"/>
          </a:p>
        </p:txBody>
      </p:sp>
      <p:sp>
        <p:nvSpPr>
          <p:cNvPr id="6" name="Shape 4"/>
          <p:cNvSpPr/>
          <p:nvPr/>
        </p:nvSpPr>
        <p:spPr>
          <a:xfrm>
            <a:off x="3492500" y="1595041"/>
            <a:ext cx="2527300" cy="1236861"/>
          </a:xfrm>
          <a:prstGeom prst="roundRect">
            <a:avLst>
              <a:gd name="adj" fmla="val 10268"/>
            </a:avLst>
          </a:prstGeom>
          <a:solidFill>
            <a:srgbClr val="14213D"/>
          </a:solidFill>
          <a:ln/>
        </p:spPr>
      </p:sp>
      <p:sp>
        <p:nvSpPr>
          <p:cNvPr id="7" name="Text 5"/>
          <p:cNvSpPr/>
          <p:nvPr/>
        </p:nvSpPr>
        <p:spPr>
          <a:xfrm>
            <a:off x="3695700" y="1798241"/>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0"/>
                </a:solidFill>
                <a:latin typeface="Arial" pitchFamily="34" charset="0"/>
                <a:ea typeface="Arial" pitchFamily="34" charset="-122"/>
                <a:cs typeface="Arial" pitchFamily="34" charset="-120"/>
              </a:rPr>
              <a:t>Promoción</a:t>
            </a:r>
            <a:endParaRPr lang="en-US" sz="2000" dirty="0"/>
          </a:p>
        </p:txBody>
      </p:sp>
      <p:sp>
        <p:nvSpPr>
          <p:cNvPr id="8" name="Text 6"/>
          <p:cNvSpPr/>
          <p:nvPr/>
        </p:nvSpPr>
        <p:spPr>
          <a:xfrm>
            <a:off x="3695700" y="2166541"/>
            <a:ext cx="21845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Arial" pitchFamily="34" charset="0"/>
                <a:ea typeface="Arial" pitchFamily="34" charset="-122"/>
                <a:cs typeface="Arial" pitchFamily="34" charset="-120"/>
              </a:rPr>
              <a:t>Id, Año, Fecha, Campus, Vertical, tipoModalidad</a:t>
            </a:r>
            <a:endParaRPr lang="en-US" sz="1300" dirty="0"/>
          </a:p>
        </p:txBody>
      </p:sp>
      <p:sp>
        <p:nvSpPr>
          <p:cNvPr id="9" name="Shape 7"/>
          <p:cNvSpPr/>
          <p:nvPr/>
        </p:nvSpPr>
        <p:spPr>
          <a:xfrm>
            <a:off x="6172200" y="1595041"/>
            <a:ext cx="2527300" cy="1236861"/>
          </a:xfrm>
          <a:prstGeom prst="roundRect">
            <a:avLst>
              <a:gd name="adj" fmla="val 10268"/>
            </a:avLst>
          </a:prstGeom>
          <a:solidFill>
            <a:srgbClr val="14213D"/>
          </a:solidFill>
          <a:ln/>
        </p:spPr>
      </p:sp>
      <p:sp>
        <p:nvSpPr>
          <p:cNvPr id="10" name="Text 8"/>
          <p:cNvSpPr/>
          <p:nvPr/>
        </p:nvSpPr>
        <p:spPr>
          <a:xfrm>
            <a:off x="6375400" y="1798241"/>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0"/>
                </a:solidFill>
                <a:latin typeface="Arial" pitchFamily="34" charset="0"/>
                <a:ea typeface="Arial" pitchFamily="34" charset="-122"/>
                <a:cs typeface="Arial" pitchFamily="34" charset="-120"/>
              </a:rPr>
              <a:t>Proyectos</a:t>
            </a:r>
            <a:endParaRPr lang="en-US" sz="2000" dirty="0"/>
          </a:p>
        </p:txBody>
      </p:sp>
      <p:sp>
        <p:nvSpPr>
          <p:cNvPr id="11" name="Text 9"/>
          <p:cNvSpPr/>
          <p:nvPr/>
        </p:nvSpPr>
        <p:spPr>
          <a:xfrm>
            <a:off x="6375400" y="2166541"/>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Arial" pitchFamily="34" charset="0"/>
                <a:ea typeface="Arial" pitchFamily="34" charset="-122"/>
                <a:cs typeface="Arial" pitchFamily="34" charset="-120"/>
              </a:rPr>
              <a:t>Id, Nombre</a:t>
            </a:r>
            <a:endParaRPr lang="en-US" sz="1300" dirty="0"/>
          </a:p>
        </p:txBody>
      </p:sp>
      <p:sp>
        <p:nvSpPr>
          <p:cNvPr id="12" name="Shape 10"/>
          <p:cNvSpPr/>
          <p:nvPr/>
        </p:nvSpPr>
        <p:spPr>
          <a:xfrm>
            <a:off x="8851900" y="1595041"/>
            <a:ext cx="2527300" cy="1236861"/>
          </a:xfrm>
          <a:prstGeom prst="roundRect">
            <a:avLst>
              <a:gd name="adj" fmla="val 10268"/>
            </a:avLst>
          </a:prstGeom>
          <a:solidFill>
            <a:srgbClr val="14213D"/>
          </a:solidFill>
          <a:ln/>
        </p:spPr>
      </p:sp>
      <p:sp>
        <p:nvSpPr>
          <p:cNvPr id="13" name="Text 11"/>
          <p:cNvSpPr/>
          <p:nvPr/>
        </p:nvSpPr>
        <p:spPr>
          <a:xfrm>
            <a:off x="9055100" y="1798241"/>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0"/>
                </a:solidFill>
                <a:latin typeface="Arial" pitchFamily="34" charset="0"/>
                <a:ea typeface="Arial" pitchFamily="34" charset="-122"/>
                <a:cs typeface="Arial" pitchFamily="34" charset="-120"/>
              </a:rPr>
              <a:t>Claustro</a:t>
            </a:r>
            <a:endParaRPr lang="en-US" sz="2000" dirty="0"/>
          </a:p>
        </p:txBody>
      </p:sp>
      <p:sp>
        <p:nvSpPr>
          <p:cNvPr id="14" name="Text 12"/>
          <p:cNvSpPr/>
          <p:nvPr/>
        </p:nvSpPr>
        <p:spPr>
          <a:xfrm>
            <a:off x="9055100" y="2166541"/>
            <a:ext cx="21845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6"/>
                </a:solidFill>
                <a:latin typeface="Arial" pitchFamily="34" charset="0"/>
                <a:ea typeface="Arial" pitchFamily="34" charset="-122"/>
                <a:cs typeface="Arial" pitchFamily="34" charset="-120"/>
              </a:rPr>
              <a:t>Id, Nombre, Rol, Modalidad</a:t>
            </a:r>
            <a:endParaRPr lang="en-US" sz="1300" dirty="0"/>
          </a:p>
        </p:txBody>
      </p:sp>
      <p:sp>
        <p:nvSpPr>
          <p:cNvPr id="15" name="Shape 13"/>
          <p:cNvSpPr/>
          <p:nvPr/>
        </p:nvSpPr>
        <p:spPr>
          <a:xfrm>
            <a:off x="812800" y="3111302"/>
            <a:ext cx="10566400" cy="1942505"/>
          </a:xfrm>
          <a:prstGeom prst="rect">
            <a:avLst/>
          </a:prstGeom>
          <a:solidFill>
            <a:srgbClr val="FFFFFF"/>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5500" y="3124002"/>
          <a:ext cx="10553700" cy="1929805"/>
        </p:xfrm>
        <a:graphic>
          <a:graphicData uri="http://schemas.openxmlformats.org/drawingml/2006/table">
            <a:tbl>
              <a:tblPr/>
              <a:tblGrid>
                <a:gridCol w="2321814"/>
                <a:gridCol w="3166110"/>
                <a:gridCol w="5065776"/>
              </a:tblGrid>
              <a:tr h="385961">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Relación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Entre</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Se lee</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Pertenecen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Alumnos – Promoción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alumno puede estar en varias promociones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Realizan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Alumnos – Proyectos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Con el atributo Evaluación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Tienen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Promoción – Proyectos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Qué proyectos tiene cada promoción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Tiene</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Promoción – Claustro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Qué profesores da cada promoción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3 </a:t>
            </a:r>
            <a:endParaRPr lang="en-US" sz="1200" dirty="0"/>
          </a:p>
        </p:txBody>
      </p:sp>
      <p:sp>
        <p:nvSpPr>
          <p:cNvPr id="18"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El modelo Entidad-Relación</a:t>
            </a:r>
            <a:endParaRPr lang="en-US" sz="3600" dirty="0"/>
          </a:p>
        </p:txBody>
      </p:sp>
      <p:sp>
        <p:nvSpPr>
          <p:cNvPr id="3" name="Shape 1"/>
          <p:cNvSpPr/>
          <p:nvPr/>
        </p:nvSpPr>
        <p:spPr>
          <a:xfrm>
            <a:off x="812800" y="1518841"/>
            <a:ext cx="7493000" cy="4013200"/>
          </a:xfrm>
          <a:prstGeom prst="roundRect">
            <a:avLst>
              <a:gd name="adj" fmla="val 2532"/>
            </a:avLst>
          </a:prstGeom>
          <a:solidFill>
            <a:srgbClr val="FFFFFF"/>
          </a:solidFill>
          <a:ln/>
        </p:spPr>
      </p:sp>
      <p:pic>
        <p:nvPicPr>
          <p:cNvPr id="4" name="Image 0" descr="Diagrama Entidad-Relación del proyecto hecho en draw.io">    </p:cNvPr>
          <p:cNvPicPr>
            <a:picLocks noChangeAspect="1"/>
          </p:cNvPicPr>
          <p:nvPr/>
        </p:nvPicPr>
        <p:blipFill>
          <a:blip r:embed="rId1"/>
          <a:srcRect l="-159" r="-159" t="0" b="0"/>
          <a:stretch/>
        </p:blipFill>
        <p:spPr>
          <a:xfrm>
            <a:off x="825500" y="1531541"/>
            <a:ext cx="7467600" cy="3987800"/>
          </a:xfrm>
          <a:prstGeom prst="roundRect">
            <a:avLst>
              <a:gd name="adj" fmla="val 2229"/>
            </a:avLst>
          </a:prstGeom>
        </p:spPr>
      </p:pic>
      <p:sp>
        <p:nvSpPr>
          <p:cNvPr id="5" name="Shape 2"/>
          <p:cNvSpPr/>
          <p:nvPr/>
        </p:nvSpPr>
        <p:spPr>
          <a:xfrm>
            <a:off x="819150" y="1525191"/>
            <a:ext cx="7480300" cy="4000500"/>
          </a:xfrm>
          <a:prstGeom prst="roundRect">
            <a:avLst>
              <a:gd name="adj" fmla="val 2381"/>
            </a:avLst>
          </a:prstGeom>
          <a:noFill/>
          <a:ln w="12700">
            <a:solidFill>
              <a:srgbClr val="DCE2EC"/>
            </a:solidFill>
            <a:prstDash val="solid"/>
          </a:ln>
        </p:spPr>
      </p:sp>
      <p:sp>
        <p:nvSpPr>
          <p:cNvPr id="6" name="Text 3"/>
          <p:cNvSpPr/>
          <p:nvPr/>
        </p:nvSpPr>
        <p:spPr>
          <a:xfrm>
            <a:off x="8559800" y="2622649"/>
            <a:ext cx="29039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Rectángulo</a:t>
            </a:r>
            <a:r>
              <a:rPr lang="en-US" sz="1300" dirty="0">
                <a:solidFill>
                  <a:srgbClr val="3E4A5E"/>
                </a:solidFill>
                <a:latin typeface="Arial" pitchFamily="34" charset="0"/>
                <a:ea typeface="Arial" pitchFamily="34" charset="-122"/>
                <a:cs typeface="Arial" pitchFamily="34" charset="-120"/>
              </a:rPr>
              <a:t> = entidad</a:t>
            </a:r>
            <a:endParaRPr lang="en-US" sz="1300" dirty="0"/>
          </a:p>
        </p:txBody>
      </p:sp>
      <p:sp>
        <p:nvSpPr>
          <p:cNvPr id="7" name="Text 4"/>
          <p:cNvSpPr/>
          <p:nvPr/>
        </p:nvSpPr>
        <p:spPr>
          <a:xfrm>
            <a:off x="8559800" y="2993430"/>
            <a:ext cx="290398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Elipse</a:t>
            </a:r>
            <a:r>
              <a:rPr lang="en-US" sz="1300" dirty="0">
                <a:solidFill>
                  <a:srgbClr val="3E4A5E"/>
                </a:solidFill>
                <a:latin typeface="Arial" pitchFamily="34" charset="0"/>
                <a:ea typeface="Arial" pitchFamily="34" charset="-122"/>
                <a:cs typeface="Arial" pitchFamily="34" charset="-120"/>
              </a:rPr>
              <a:t> = atributo </a:t>
            </a:r>
            <a:endParaRPr lang="en-US" sz="1300" dirty="0"/>
          </a:p>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a:t>
            </a:r>
            <a:r>
              <a:rPr lang="en-US" sz="1300" u="sng" dirty="0">
                <a:solidFill>
                  <a:srgbClr val="3E4A5E"/>
                </a:solidFill>
                <a:latin typeface="Arial" pitchFamily="34" charset="0"/>
                <a:ea typeface="Arial" pitchFamily="34" charset="-122"/>
                <a:cs typeface="Arial" pitchFamily="34" charset="-120"/>
              </a:rPr>
              <a:t>subrayado</a:t>
            </a:r>
            <a:r>
              <a:rPr lang="en-US" sz="1300" dirty="0">
                <a:solidFill>
                  <a:srgbClr val="3E4A5E"/>
                </a:solidFill>
                <a:latin typeface="Arial" pitchFamily="34" charset="0"/>
                <a:ea typeface="Arial" pitchFamily="34" charset="-122"/>
                <a:cs typeface="Arial" pitchFamily="34" charset="-120"/>
              </a:rPr>
              <a:t> = primaryKey)</a:t>
            </a:r>
            <a:endParaRPr lang="en-US" sz="1300" dirty="0"/>
          </a:p>
        </p:txBody>
      </p:sp>
      <p:sp>
        <p:nvSpPr>
          <p:cNvPr id="8" name="Text 5"/>
          <p:cNvSpPr/>
          <p:nvPr/>
        </p:nvSpPr>
        <p:spPr>
          <a:xfrm>
            <a:off x="8559800" y="3595291"/>
            <a:ext cx="290398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Rombo</a:t>
            </a:r>
            <a:r>
              <a:rPr lang="en-US" sz="1300" dirty="0">
                <a:solidFill>
                  <a:srgbClr val="3E4A5E"/>
                </a:solidFill>
                <a:latin typeface="Arial" pitchFamily="34" charset="0"/>
                <a:ea typeface="Arial" pitchFamily="34" charset="-122"/>
                <a:cs typeface="Arial" pitchFamily="34" charset="-120"/>
              </a:rPr>
              <a:t> = relación</a:t>
            </a:r>
            <a:endParaRPr lang="en-US" sz="1300" dirty="0"/>
          </a:p>
        </p:txBody>
      </p:sp>
      <p:sp>
        <p:nvSpPr>
          <p:cNvPr id="9" name="Text 6"/>
          <p:cNvSpPr/>
          <p:nvPr/>
        </p:nvSpPr>
        <p:spPr>
          <a:xfrm>
            <a:off x="8559800" y="3966071"/>
            <a:ext cx="290398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Evaluación</a:t>
            </a:r>
            <a:r>
              <a:rPr lang="en-US" sz="1300" dirty="0">
                <a:solidFill>
                  <a:srgbClr val="3E4A5E"/>
                </a:solidFill>
                <a:latin typeface="Arial" pitchFamily="34" charset="0"/>
                <a:ea typeface="Arial" pitchFamily="34" charset="-122"/>
                <a:cs typeface="Arial" pitchFamily="34" charset="-120"/>
              </a:rPr>
              <a:t> cuelga del rombo: es de “este alumno en este proyecto”</a:t>
            </a:r>
            <a:endParaRPr lang="en-US" sz="13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3 · Hecho en draw.io</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9</a:t>
            </a:r>
            <a:endParaRPr lang="en-US" sz="1200" dirty="0"/>
          </a:p>
        </p:txBody>
      </p:sp>
      <p:pic>
        <p:nvPicPr>
          <p:cNvPr id="12" name="Image 1" descr="image.png">    </p:cNvPr>
          <p:cNvPicPr>
            <a:picLocks noChangeAspect="1"/>
          </p:cNvPicPr>
          <p:nvPr/>
        </p:nvPicPr>
        <p:blipFill>
          <a:blip r:embed="rId2"/>
          <a:srcRect l="0" r="0" t="340" b="340"/>
          <a:stretch/>
        </p:blipFill>
        <p:spPr>
          <a:xfrm>
            <a:off x="812800" y="1829246"/>
            <a:ext cx="7452916" cy="36656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4</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10</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Del E/R a tablas: tres reglas</a:t>
            </a:r>
            <a:endParaRPr lang="en-US" sz="3600" dirty="0"/>
          </a:p>
        </p:txBody>
      </p:sp>
      <p:sp>
        <p:nvSpPr>
          <p:cNvPr id="5" name="Shape 3"/>
          <p:cNvSpPr/>
          <p:nvPr/>
        </p:nvSpPr>
        <p:spPr>
          <a:xfrm>
            <a:off x="819150" y="1625600"/>
            <a:ext cx="5168900" cy="1771650"/>
          </a:xfrm>
          <a:prstGeom prst="roundRect">
            <a:avLst>
              <a:gd name="adj" fmla="val 6810"/>
            </a:avLst>
          </a:prstGeom>
          <a:solidFill>
            <a:srgbClr val="FFFFFF"/>
          </a:solidFill>
          <a:ln w="12700">
            <a:solidFill>
              <a:srgbClr val="DCE2EC"/>
            </a:solidFill>
            <a:prstDash val="solid"/>
          </a:ln>
        </p:spPr>
      </p:sp>
      <p:sp>
        <p:nvSpPr>
          <p:cNvPr id="6" name="Text 4"/>
          <p:cNvSpPr/>
          <p:nvPr/>
        </p:nvSpPr>
        <p:spPr>
          <a:xfrm>
            <a:off x="1079500" y="18859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ENTIDAD</a:t>
            </a:r>
            <a:endParaRPr lang="en-US" sz="1200" dirty="0"/>
          </a:p>
        </p:txBody>
      </p:sp>
      <p:sp>
        <p:nvSpPr>
          <p:cNvPr id="7" name="Text 5"/>
          <p:cNvSpPr/>
          <p:nvPr/>
        </p:nvSpPr>
        <p:spPr>
          <a:xfrm>
            <a:off x="1079500" y="2200870"/>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Una tabla</a:t>
            </a:r>
            <a:endParaRPr lang="en-US" sz="2200" dirty="0"/>
          </a:p>
        </p:txBody>
      </p:sp>
      <p:sp>
        <p:nvSpPr>
          <p:cNvPr id="8" name="Text 6"/>
          <p:cNvSpPr/>
          <p:nvPr/>
        </p:nvSpPr>
        <p:spPr>
          <a:xfrm>
            <a:off x="1079500" y="2637730"/>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Arial" pitchFamily="34" charset="0"/>
                <a:ea typeface="Arial" pitchFamily="34" charset="-122"/>
                <a:cs typeface="Arial" pitchFamily="34" charset="-120"/>
              </a:rPr>
              <a:t>Su identificador pasa a ser la </a:t>
            </a:r>
            <a:r>
              <a:rPr lang="en-US" sz="1400" b="1" dirty="0">
                <a:solidFill>
                  <a:srgbClr val="14213D"/>
                </a:solidFill>
                <a:latin typeface="Arial" pitchFamily="34" charset="0"/>
                <a:ea typeface="Arial" pitchFamily="34" charset="-122"/>
                <a:cs typeface="Arial" pitchFamily="34" charset="-120"/>
              </a:rPr>
              <a:t>clave primaria (PK)</a:t>
            </a:r>
            <a:r>
              <a:rPr lang="en-US" sz="1400" dirty="0">
                <a:solidFill>
                  <a:srgbClr val="3E4A5E"/>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6203950" y="1625600"/>
            <a:ext cx="5168900" cy="1771650"/>
          </a:xfrm>
          <a:prstGeom prst="roundRect">
            <a:avLst>
              <a:gd name="adj" fmla="val 6810"/>
            </a:avLst>
          </a:prstGeom>
          <a:solidFill>
            <a:srgbClr val="FFFFFF"/>
          </a:solidFill>
          <a:ln w="12700">
            <a:solidFill>
              <a:srgbClr val="DCE2EC"/>
            </a:solidFill>
            <a:prstDash val="solid"/>
          </a:ln>
        </p:spPr>
      </p:sp>
      <p:sp>
        <p:nvSpPr>
          <p:cNvPr id="10" name="Text 8"/>
          <p:cNvSpPr/>
          <p:nvPr/>
        </p:nvSpPr>
        <p:spPr>
          <a:xfrm>
            <a:off x="6464300" y="18859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RELACIÓN N:M</a:t>
            </a:r>
            <a:endParaRPr lang="en-US" sz="1200" dirty="0"/>
          </a:p>
        </p:txBody>
      </p:sp>
      <p:sp>
        <p:nvSpPr>
          <p:cNvPr id="11" name="Text 9"/>
          <p:cNvSpPr/>
          <p:nvPr/>
        </p:nvSpPr>
        <p:spPr>
          <a:xfrm>
            <a:off x="6464300" y="2200870"/>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Tabla intermedia</a:t>
            </a:r>
            <a:endParaRPr lang="en-US" sz="2200" dirty="0"/>
          </a:p>
        </p:txBody>
      </p:sp>
      <p:sp>
        <p:nvSpPr>
          <p:cNvPr id="12" name="Text 10"/>
          <p:cNvSpPr/>
          <p:nvPr/>
        </p:nvSpPr>
        <p:spPr>
          <a:xfrm>
            <a:off x="6464300" y="2637730"/>
            <a:ext cx="478764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Arial" pitchFamily="34" charset="0"/>
                <a:ea typeface="Arial" pitchFamily="34" charset="-122"/>
                <a:cs typeface="Arial" pitchFamily="34" charset="-120"/>
              </a:rPr>
              <a:t>Con las dos PK, que juntas forman su PK y cada una es FK.</a:t>
            </a:r>
            <a:endParaRPr lang="en-US" sz="1400" dirty="0"/>
          </a:p>
        </p:txBody>
      </p:sp>
      <p:sp>
        <p:nvSpPr>
          <p:cNvPr id="13" name="Shape 11"/>
          <p:cNvSpPr/>
          <p:nvPr/>
        </p:nvSpPr>
        <p:spPr>
          <a:xfrm>
            <a:off x="812800" y="3708400"/>
            <a:ext cx="10566400" cy="1098550"/>
          </a:xfrm>
          <a:prstGeom prst="roundRect">
            <a:avLst>
              <a:gd name="adj" fmla="val 11561"/>
            </a:avLst>
          </a:prstGeom>
          <a:solidFill>
            <a:srgbClr val="14213D"/>
          </a:solidFill>
          <a:ln/>
        </p:spPr>
      </p:sp>
      <p:sp>
        <p:nvSpPr>
          <p:cNvPr id="14" name="Text 12"/>
          <p:cNvSpPr/>
          <p:nvPr/>
        </p:nvSpPr>
        <p:spPr>
          <a:xfrm>
            <a:off x="1092200" y="3937595"/>
            <a:ext cx="1859137" cy="665460"/>
          </a:xfrm>
          <a:prstGeom prst="rect">
            <a:avLst/>
          </a:prstGeom>
          <a:noFill/>
          <a:ln/>
        </p:spPr>
        <p:txBody>
          <a:bodyPr wrap="none" lIns="0" tIns="0" rIns="0" bIns="0" rtlCol="0" anchor="t">
            <a:normAutofit/>
          </a:bodyPr>
          <a:lstStyle/>
          <a:p>
            <a:pPr algn="l" indent="0" marL="0">
              <a:lnSpc>
                <a:spcPts val="5040"/>
              </a:lnSpc>
              <a:buNone/>
            </a:pPr>
            <a:r>
              <a:rPr lang="en-US" sz="3600" b="1" dirty="0">
                <a:solidFill>
                  <a:srgbClr val="F2A65A"/>
                </a:solidFill>
                <a:latin typeface="Arial" pitchFamily="34" charset="0"/>
                <a:ea typeface="Arial" pitchFamily="34" charset="-122"/>
                <a:cs typeface="Arial" pitchFamily="34" charset="-120"/>
              </a:rPr>
              <a:t>4 + 4 = 8</a:t>
            </a:r>
            <a:endParaRPr lang="en-US" sz="3600" dirty="0"/>
          </a:p>
        </p:txBody>
      </p:sp>
      <p:sp>
        <p:nvSpPr>
          <p:cNvPr id="15" name="Text 13"/>
          <p:cNvSpPr/>
          <p:nvPr/>
        </p:nvSpPr>
        <p:spPr>
          <a:xfrm>
            <a:off x="3074988" y="4124325"/>
            <a:ext cx="83042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Arial" pitchFamily="34" charset="0"/>
                <a:ea typeface="Arial" pitchFamily="34" charset="-122"/>
                <a:cs typeface="Arial" pitchFamily="34" charset="-120"/>
              </a:rPr>
              <a:t>4 tablas de entidades + 4 tablas intermedias, porque todas nuestras relaciones son N:M.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4 · Hecho en draw.io</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11</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El modelo lógico: 8 tablas</a:t>
            </a:r>
            <a:endParaRPr lang="en-US" sz="3600" dirty="0"/>
          </a:p>
        </p:txBody>
      </p:sp>
      <p:sp>
        <p:nvSpPr>
          <p:cNvPr id="5" name="Shape 3"/>
          <p:cNvSpPr/>
          <p:nvPr/>
        </p:nvSpPr>
        <p:spPr>
          <a:xfrm>
            <a:off x="812800" y="1517650"/>
            <a:ext cx="7112000" cy="4152900"/>
          </a:xfrm>
          <a:prstGeom prst="roundRect">
            <a:avLst>
              <a:gd name="adj" fmla="val 2446"/>
            </a:avLst>
          </a:prstGeom>
          <a:solidFill>
            <a:srgbClr val="FFFFFF"/>
          </a:solidFill>
          <a:ln/>
        </p:spPr>
      </p:sp>
      <p:pic>
        <p:nvPicPr>
          <p:cNvPr id="6" name="Image 0" descr="Modelo lógico con las 8 tablas, sus claves primarias y foráneas, hecho en draw.io">    </p:cNvPr>
          <p:cNvPicPr>
            <a:picLocks noChangeAspect="1"/>
          </p:cNvPicPr>
          <p:nvPr/>
        </p:nvPicPr>
        <p:blipFill>
          <a:blip r:embed="rId1"/>
          <a:srcRect l="-60" r="-60" t="0" b="0"/>
          <a:stretch/>
        </p:blipFill>
        <p:spPr>
          <a:xfrm>
            <a:off x="825500" y="1530350"/>
            <a:ext cx="7086600" cy="4127500"/>
          </a:xfrm>
          <a:prstGeom prst="roundRect">
            <a:avLst>
              <a:gd name="adj" fmla="val 2154"/>
            </a:avLst>
          </a:prstGeom>
        </p:spPr>
      </p:pic>
      <p:sp>
        <p:nvSpPr>
          <p:cNvPr id="7" name="Shape 4"/>
          <p:cNvSpPr/>
          <p:nvPr/>
        </p:nvSpPr>
        <p:spPr>
          <a:xfrm>
            <a:off x="819150" y="1524000"/>
            <a:ext cx="7099300" cy="4140200"/>
          </a:xfrm>
          <a:prstGeom prst="roundRect">
            <a:avLst>
              <a:gd name="adj" fmla="val 2301"/>
            </a:avLst>
          </a:prstGeom>
          <a:noFill/>
          <a:ln w="12700">
            <a:solidFill>
              <a:srgbClr val="DCE2EC"/>
            </a:solidFill>
            <a:prstDash val="solid"/>
          </a:ln>
        </p:spPr>
      </p:sp>
      <p:sp>
        <p:nvSpPr>
          <p:cNvPr id="8" name="Text 5"/>
          <p:cNvSpPr/>
          <p:nvPr/>
        </p:nvSpPr>
        <p:spPr>
          <a:xfrm>
            <a:off x="8178800" y="2748459"/>
            <a:ext cx="329641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PK FK</a:t>
            </a:r>
            <a:r>
              <a:rPr lang="en-US" sz="1300" dirty="0">
                <a:solidFill>
                  <a:srgbClr val="3E4A5E"/>
                </a:solidFill>
                <a:latin typeface="Arial" pitchFamily="34" charset="0"/>
                <a:ea typeface="Arial" pitchFamily="34" charset="-122"/>
                <a:cs typeface="Arial" pitchFamily="34" charset="-120"/>
              </a:rPr>
              <a:t> en las intermedias: la clave es la pareja, y cada parte apunta a su tabla</a:t>
            </a:r>
            <a:endParaRPr lang="en-US" sz="1300" dirty="0"/>
          </a:p>
        </p:txBody>
      </p:sp>
      <p:sp>
        <p:nvSpPr>
          <p:cNvPr id="9" name="Text 6"/>
          <p:cNvSpPr/>
          <p:nvPr/>
        </p:nvSpPr>
        <p:spPr>
          <a:xfrm>
            <a:off x="8178800" y="3363020"/>
            <a:ext cx="329641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alumnosProyectos</a:t>
            </a:r>
            <a:r>
              <a:rPr lang="en-US" sz="1300" dirty="0">
                <a:solidFill>
                  <a:srgbClr val="3E4A5E"/>
                </a:solidFill>
                <a:latin typeface="Arial" pitchFamily="34" charset="0"/>
                <a:ea typeface="Arial" pitchFamily="34" charset="-122"/>
                <a:cs typeface="Arial" pitchFamily="34" charset="-120"/>
              </a:rPr>
              <a:t>: 52 alumnos × 5 proyectos = 260 filas</a:t>
            </a:r>
            <a:endParaRPr lang="en-US" sz="1300" dirty="0"/>
          </a:p>
        </p:txBody>
      </p:sp>
      <p:sp>
        <p:nvSpPr>
          <p:cNvPr id="10" name="Text 7"/>
          <p:cNvSpPr/>
          <p:nvPr/>
        </p:nvSpPr>
        <p:spPr>
          <a:xfrm>
            <a:off x="8178800" y="3977580"/>
            <a:ext cx="32964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La PK compuesta impide dos notas del mismo alumno en el mismo proyecto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5</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13</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De MySQL Workbench a PostgreSQL</a:t>
            </a:r>
            <a:endParaRPr lang="en-US" sz="3600" dirty="0"/>
          </a:p>
        </p:txBody>
      </p:sp>
      <p:sp>
        <p:nvSpPr>
          <p:cNvPr id="5" name="Shape 3"/>
          <p:cNvSpPr/>
          <p:nvPr/>
        </p:nvSpPr>
        <p:spPr>
          <a:xfrm>
            <a:off x="940792" y="1653778"/>
            <a:ext cx="10566400" cy="1809055"/>
          </a:xfrm>
          <a:prstGeom prst="rect">
            <a:avLst/>
          </a:prstGeom>
          <a:solidFill>
            <a:srgbClr val="FFFF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3492" y="1666478"/>
          <a:ext cx="10553700" cy="1796355"/>
        </p:xfrm>
        <a:graphic>
          <a:graphicData uri="http://schemas.openxmlformats.org/drawingml/2006/table">
            <a:tbl>
              <a:tblPr/>
              <a:tblGrid>
                <a:gridCol w="3588258"/>
                <a:gridCol w="3799332"/>
                <a:gridCol w="3166110"/>
              </a:tblGrid>
              <a:tr h="35927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En MySQL</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En PostgreSQL</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Por qué</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AUTO_INCREMENT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GENERATED … AS IDENTITY</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Numeración automática estándar</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CREATE DATABASE, USE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Se quitan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Supabase ya da la base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`id` (comillas)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Sin comillas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PostgreSQL no las entiende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BEGIN … COMMIT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Si algo falla, nada a medias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812800" y="3994150"/>
            <a:ext cx="3403600" cy="1066800"/>
          </a:xfrm>
          <a:prstGeom prst="roundRect">
            <a:avLst>
              <a:gd name="adj" fmla="val 11905"/>
            </a:avLst>
          </a:prstGeom>
          <a:solidFill>
            <a:srgbClr val="EAEEF6"/>
          </a:solidFill>
          <a:ln/>
        </p:spPr>
      </p:sp>
      <p:sp>
        <p:nvSpPr>
          <p:cNvPr id="8" name="Text 5"/>
          <p:cNvSpPr/>
          <p:nvPr/>
        </p:nvSpPr>
        <p:spPr>
          <a:xfrm>
            <a:off x="1016000" y="4171950"/>
            <a:ext cx="30871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1 · Crear las tablas</a:t>
            </a:r>
            <a:endParaRPr lang="en-US" sz="1300" dirty="0"/>
          </a:p>
        </p:txBody>
      </p:sp>
      <p:sp>
        <p:nvSpPr>
          <p:cNvPr id="9" name="Text 6"/>
          <p:cNvSpPr/>
          <p:nvPr/>
        </p:nvSpPr>
        <p:spPr>
          <a:xfrm>
            <a:off x="1016000" y="4453830"/>
            <a:ext cx="30871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Arial" pitchFamily="34" charset="0"/>
                <a:ea typeface="Arial" pitchFamily="34" charset="-122"/>
                <a:cs typeface="Arial" pitchFamily="34" charset="-120"/>
              </a:rPr>
              <a:t>Primero las 4 sin FK, después las intermedias</a:t>
            </a:r>
            <a:endParaRPr lang="en-US" sz="1200" dirty="0"/>
          </a:p>
        </p:txBody>
      </p:sp>
      <p:sp>
        <p:nvSpPr>
          <p:cNvPr id="10" name="Shape 7"/>
          <p:cNvSpPr/>
          <p:nvPr/>
        </p:nvSpPr>
        <p:spPr>
          <a:xfrm>
            <a:off x="4394200" y="3994150"/>
            <a:ext cx="3403600" cy="1066800"/>
          </a:xfrm>
          <a:prstGeom prst="roundRect">
            <a:avLst>
              <a:gd name="adj" fmla="val 11905"/>
            </a:avLst>
          </a:prstGeom>
          <a:solidFill>
            <a:srgbClr val="EAEEF6"/>
          </a:solidFill>
          <a:ln/>
        </p:spPr>
      </p:sp>
      <p:sp>
        <p:nvSpPr>
          <p:cNvPr id="11" name="Text 8"/>
          <p:cNvSpPr/>
          <p:nvPr/>
        </p:nvSpPr>
        <p:spPr>
          <a:xfrm>
            <a:off x="4597400" y="4171950"/>
            <a:ext cx="30871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2 · Cargar los CSV</a:t>
            </a:r>
            <a:endParaRPr lang="en-US" sz="1300" dirty="0"/>
          </a:p>
        </p:txBody>
      </p:sp>
      <p:sp>
        <p:nvSpPr>
          <p:cNvPr id="12" name="Text 9"/>
          <p:cNvSpPr/>
          <p:nvPr/>
        </p:nvSpPr>
        <p:spPr>
          <a:xfrm>
            <a:off x="4597400" y="4453830"/>
            <a:ext cx="30871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Arial" pitchFamily="34" charset="0"/>
                <a:ea typeface="Arial" pitchFamily="34" charset="-122"/>
                <a:cs typeface="Arial" pitchFamily="34" charset="-120"/>
              </a:rPr>
              <a:t>INSERT generados aplicando la normalización</a:t>
            </a:r>
            <a:endParaRPr lang="en-US" sz="1200" dirty="0"/>
          </a:p>
        </p:txBody>
      </p:sp>
      <p:sp>
        <p:nvSpPr>
          <p:cNvPr id="13" name="Shape 10"/>
          <p:cNvSpPr/>
          <p:nvPr/>
        </p:nvSpPr>
        <p:spPr>
          <a:xfrm>
            <a:off x="7975600" y="3994150"/>
            <a:ext cx="3403600" cy="1066800"/>
          </a:xfrm>
          <a:prstGeom prst="roundRect">
            <a:avLst>
              <a:gd name="adj" fmla="val 11905"/>
            </a:avLst>
          </a:prstGeom>
          <a:solidFill>
            <a:srgbClr val="EAEEF6"/>
          </a:solidFill>
          <a:ln/>
        </p:spPr>
      </p:sp>
      <p:sp>
        <p:nvSpPr>
          <p:cNvPr id="14" name="Text 11"/>
          <p:cNvSpPr/>
          <p:nvPr/>
        </p:nvSpPr>
        <p:spPr>
          <a:xfrm>
            <a:off x="8178800" y="4171950"/>
            <a:ext cx="30871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3 · Ejecutar en Supabase</a:t>
            </a:r>
            <a:endParaRPr lang="en-US" sz="1300" dirty="0"/>
          </a:p>
        </p:txBody>
      </p:sp>
      <p:sp>
        <p:nvSpPr>
          <p:cNvPr id="15" name="Text 12"/>
          <p:cNvSpPr/>
          <p:nvPr/>
        </p:nvSpPr>
        <p:spPr>
          <a:xfrm>
            <a:off x="8178800" y="4453830"/>
            <a:ext cx="308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Arial" pitchFamily="34" charset="0"/>
                <a:ea typeface="Arial" pitchFamily="34" charset="-122"/>
                <a:cs typeface="Arial" pitchFamily="34" charset="-120"/>
              </a:rPr>
              <a:t>SQL Editor → pegar el script → Run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Nuestro script: de MySQL a PostgreSQL (1/2)</a:t>
            </a:r>
            <a:endParaRPr lang="en-US" sz="3200" dirty="0"/>
          </a:p>
        </p:txBody>
      </p:sp>
      <p:sp>
        <p:nvSpPr>
          <p:cNvPr id="3" name="Text 1"/>
          <p:cNvSpPr/>
          <p:nvPr/>
        </p:nvSpPr>
        <p:spPr>
          <a:xfrm>
            <a:off x="812800" y="1437580"/>
            <a:ext cx="4185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MySQL Workbench</a:t>
            </a:r>
            <a:r>
              <a:rPr lang="en-US" sz="1300" b="1" dirty="0">
                <a:solidFill>
                  <a:srgbClr val="14213D"/>
                </a:solidFill>
                <a:latin typeface="Arial" pitchFamily="34" charset="0"/>
                <a:ea typeface="Arial" pitchFamily="34" charset="-122"/>
                <a:cs typeface="Arial" pitchFamily="34" charset="-120"/>
              </a:rPr>
              <a:t> · lo que escribimos</a:t>
            </a:r>
            <a:endParaRPr lang="en-US" sz="1300" dirty="0"/>
          </a:p>
        </p:txBody>
      </p:sp>
      <p:sp>
        <p:nvSpPr>
          <p:cNvPr id="4" name="Shape 2"/>
          <p:cNvSpPr/>
          <p:nvPr/>
        </p:nvSpPr>
        <p:spPr>
          <a:xfrm>
            <a:off x="812800" y="1744861"/>
            <a:ext cx="4064000" cy="4064000"/>
          </a:xfrm>
          <a:prstGeom prst="roundRect">
            <a:avLst>
              <a:gd name="adj" fmla="val 2500"/>
            </a:avLst>
          </a:prstGeom>
          <a:solidFill>
            <a:srgbClr val="FFFFFF"/>
          </a:solidFill>
          <a:ln/>
        </p:spPr>
      </p:sp>
      <p:pic>
        <p:nvPicPr>
          <p:cNvPr id="5" name="Image 0" descr="Script de creación en MySQL Workbench: DROP y CREATE DATABASE y las tablas promocion, alumnos, proyectos y alumnosProyectos">    </p:cNvPr>
          <p:cNvPicPr>
            <a:picLocks noChangeAspect="1"/>
          </p:cNvPicPr>
          <p:nvPr/>
        </p:nvPicPr>
        <p:blipFill>
          <a:blip r:embed="rId1"/>
          <a:stretch>
            <a:fillRect/>
          </a:stretch>
        </p:blipFill>
        <p:spPr>
          <a:xfrm>
            <a:off x="1036043" y="1757561"/>
            <a:ext cx="3617514" cy="4038600"/>
          </a:xfrm>
          <a:prstGeom prst="rect">
            <a:avLst/>
          </a:prstGeom>
        </p:spPr>
      </p:pic>
      <p:sp>
        <p:nvSpPr>
          <p:cNvPr id="6" name="Shape 3"/>
          <p:cNvSpPr/>
          <p:nvPr/>
        </p:nvSpPr>
        <p:spPr>
          <a:xfrm>
            <a:off x="819150" y="1751211"/>
            <a:ext cx="4051300" cy="4051300"/>
          </a:xfrm>
          <a:prstGeom prst="roundRect">
            <a:avLst>
              <a:gd name="adj" fmla="val 2351"/>
            </a:avLst>
          </a:prstGeom>
          <a:noFill/>
          <a:ln w="12700">
            <a:solidFill>
              <a:srgbClr val="DCE2EC"/>
            </a:solidFill>
            <a:prstDash val="solid"/>
          </a:ln>
        </p:spPr>
      </p:sp>
      <p:pic>
        <p:nvPicPr>
          <p:cNvPr id="7" name="Image 1" descr="arrow-right">    </p:cNvPr>
          <p:cNvPicPr>
            <a:picLocks noChangeAspect="1"/>
          </p:cNvPicPr>
          <p:nvPr/>
        </p:nvPicPr>
        <p:blipFill>
          <a:blip r:embed="rId2"/>
          <a:srcRect l="0" r="0" t="0" b="0"/>
          <a:stretch/>
        </p:blipFill>
        <p:spPr>
          <a:xfrm>
            <a:off x="5054600" y="3496171"/>
            <a:ext cx="457200" cy="254000"/>
          </a:xfrm>
          <a:prstGeom prst="rect">
            <a:avLst/>
          </a:prstGeom>
        </p:spPr>
      </p:pic>
      <p:sp>
        <p:nvSpPr>
          <p:cNvPr id="8" name="Text 4"/>
          <p:cNvSpPr/>
          <p:nvPr/>
        </p:nvSpPr>
        <p:spPr>
          <a:xfrm>
            <a:off x="5689600" y="1437580"/>
            <a:ext cx="586028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PostgreSQL · Supabase</a:t>
            </a:r>
            <a:r>
              <a:rPr lang="en-US" sz="1300" b="1" dirty="0">
                <a:solidFill>
                  <a:srgbClr val="14213D"/>
                </a:solidFill>
                <a:latin typeface="Arial" pitchFamily="34" charset="0"/>
                <a:ea typeface="Arial" pitchFamily="34" charset="-122"/>
                <a:cs typeface="Arial" pitchFamily="34" charset="-120"/>
              </a:rPr>
              <a:t> · </a:t>
            </a:r>
            <a:r>
              <a:rPr lang="en-US" sz="1300" b="1" dirty="0">
                <a:solidFill>
                  <a:srgbClr val="9A6B00"/>
                </a:solidFill>
                <a:latin typeface="Arial" pitchFamily="34" charset="0"/>
                <a:ea typeface="Arial" pitchFamily="34" charset="-122"/>
                <a:cs typeface="Arial" pitchFamily="34" charset="-120"/>
              </a:rPr>
              <a:t>en amarillo, lo que cambia</a:t>
            </a:r>
            <a:endParaRPr lang="en-US" sz="1300" dirty="0"/>
          </a:p>
        </p:txBody>
      </p:sp>
      <p:sp>
        <p:nvSpPr>
          <p:cNvPr id="9" name="Shape 5"/>
          <p:cNvSpPr/>
          <p:nvPr/>
        </p:nvSpPr>
        <p:spPr>
          <a:xfrm>
            <a:off x="5689600" y="1744861"/>
            <a:ext cx="5461000" cy="4064000"/>
          </a:xfrm>
          <a:prstGeom prst="roundRect">
            <a:avLst>
              <a:gd name="adj" fmla="val 2500"/>
            </a:avLst>
          </a:prstGeom>
          <a:solidFill>
            <a:srgbClr val="FFFFFF"/>
          </a:solidFill>
          <a:ln/>
        </p:spPr>
      </p:sp>
      <p:pic>
        <p:nvPicPr>
          <p:cNvPr id="10" name="Image 2" descr="El mismo script traducido a PostgreSQL, con BEGIN, DROP TABLE IF EXISTS y GENERATED BY DEFAULT AS IDENTITY resaltados">    </p:cNvPr>
          <p:cNvPicPr>
            <a:picLocks noChangeAspect="1"/>
          </p:cNvPicPr>
          <p:nvPr/>
        </p:nvPicPr>
        <p:blipFill>
          <a:blip r:embed="rId3"/>
          <a:stretch>
            <a:fillRect/>
          </a:stretch>
        </p:blipFill>
        <p:spPr>
          <a:xfrm>
            <a:off x="6189757" y="1757561"/>
            <a:ext cx="4460686" cy="4038600"/>
          </a:xfrm>
          <a:prstGeom prst="rect">
            <a:avLst/>
          </a:prstGeom>
        </p:spPr>
      </p:pic>
      <p:sp>
        <p:nvSpPr>
          <p:cNvPr id="11" name="Shape 6"/>
          <p:cNvSpPr/>
          <p:nvPr/>
        </p:nvSpPr>
        <p:spPr>
          <a:xfrm>
            <a:off x="5695950" y="1751211"/>
            <a:ext cx="5448300" cy="4051300"/>
          </a:xfrm>
          <a:prstGeom prst="roundRect">
            <a:avLst>
              <a:gd name="adj" fmla="val 2351"/>
            </a:avLst>
          </a:prstGeom>
          <a:noFill/>
          <a:ln w="12700">
            <a:solidFill>
              <a:srgbClr val="DCE2EC"/>
            </a:solidFill>
            <a:prstDash val="solid"/>
          </a:ln>
        </p:spPr>
      </p:sp>
      <p:sp>
        <p:nvSpPr>
          <p:cNvPr id="12"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5 · Script de creación (1/2)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Nuestro script: de MySQL a PostgreSQL (2/2)</a:t>
            </a:r>
            <a:endParaRPr lang="en-US" sz="3200" dirty="0"/>
          </a:p>
        </p:txBody>
      </p:sp>
      <p:sp>
        <p:nvSpPr>
          <p:cNvPr id="3" name="Text 1"/>
          <p:cNvSpPr/>
          <p:nvPr/>
        </p:nvSpPr>
        <p:spPr>
          <a:xfrm>
            <a:off x="812800" y="1437580"/>
            <a:ext cx="36626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MySQL Workbench</a:t>
            </a:r>
            <a:endParaRPr lang="en-US" sz="1300" dirty="0"/>
          </a:p>
        </p:txBody>
      </p:sp>
      <p:sp>
        <p:nvSpPr>
          <p:cNvPr id="4" name="Shape 2"/>
          <p:cNvSpPr/>
          <p:nvPr/>
        </p:nvSpPr>
        <p:spPr>
          <a:xfrm>
            <a:off x="812800" y="1744861"/>
            <a:ext cx="3556000" cy="4064000"/>
          </a:xfrm>
          <a:prstGeom prst="roundRect">
            <a:avLst>
              <a:gd name="adj" fmla="val 2857"/>
            </a:avLst>
          </a:prstGeom>
          <a:solidFill>
            <a:srgbClr val="FFFFFF"/>
          </a:solidFill>
          <a:ln/>
        </p:spPr>
      </p:sp>
      <p:pic>
        <p:nvPicPr>
          <p:cNvPr id="5" name="Image 0" descr="Script MySQL con las tablas alumnosPromocion, promocionProyectos, claustro con ENUM y promocionClaustro">    </p:cNvPr>
          <p:cNvPicPr>
            <a:picLocks noChangeAspect="1"/>
          </p:cNvPicPr>
          <p:nvPr/>
        </p:nvPicPr>
        <p:blipFill>
          <a:blip r:embed="rId1"/>
          <a:stretch>
            <a:fillRect/>
          </a:stretch>
        </p:blipFill>
        <p:spPr>
          <a:xfrm>
            <a:off x="994528" y="1757561"/>
            <a:ext cx="3192543" cy="4038600"/>
          </a:xfrm>
          <a:prstGeom prst="rect">
            <a:avLst/>
          </a:prstGeom>
        </p:spPr>
      </p:pic>
      <p:sp>
        <p:nvSpPr>
          <p:cNvPr id="6" name="Shape 3"/>
          <p:cNvSpPr/>
          <p:nvPr/>
        </p:nvSpPr>
        <p:spPr>
          <a:xfrm>
            <a:off x="819150" y="1751211"/>
            <a:ext cx="3543300" cy="4051300"/>
          </a:xfrm>
          <a:prstGeom prst="roundRect">
            <a:avLst>
              <a:gd name="adj" fmla="val 2688"/>
            </a:avLst>
          </a:prstGeom>
          <a:noFill/>
          <a:ln w="12700">
            <a:solidFill>
              <a:srgbClr val="DCE2EC"/>
            </a:solidFill>
            <a:prstDash val="solid"/>
          </a:ln>
        </p:spPr>
      </p:sp>
      <p:pic>
        <p:nvPicPr>
          <p:cNvPr id="7" name="Image 1" descr="arrow-right">    </p:cNvPr>
          <p:cNvPicPr>
            <a:picLocks noChangeAspect="1"/>
          </p:cNvPicPr>
          <p:nvPr/>
        </p:nvPicPr>
        <p:blipFill>
          <a:blip r:embed="rId2"/>
          <a:srcRect l="0" r="0" t="0" b="0"/>
          <a:stretch/>
        </p:blipFill>
        <p:spPr>
          <a:xfrm>
            <a:off x="4546600" y="3496171"/>
            <a:ext cx="457200" cy="254000"/>
          </a:xfrm>
          <a:prstGeom prst="rect">
            <a:avLst/>
          </a:prstGeom>
        </p:spPr>
      </p:pic>
      <p:sp>
        <p:nvSpPr>
          <p:cNvPr id="8" name="Text 4"/>
          <p:cNvSpPr/>
          <p:nvPr/>
        </p:nvSpPr>
        <p:spPr>
          <a:xfrm>
            <a:off x="5181600" y="1437580"/>
            <a:ext cx="49377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PostgreSQL · Supabase</a:t>
            </a:r>
            <a:r>
              <a:rPr lang="en-US" sz="1300" b="1" dirty="0">
                <a:solidFill>
                  <a:srgbClr val="14213D"/>
                </a:solidFill>
                <a:latin typeface="Arial" pitchFamily="34" charset="0"/>
                <a:ea typeface="Arial" pitchFamily="34" charset="-122"/>
                <a:cs typeface="Arial" pitchFamily="34" charset="-120"/>
              </a:rPr>
              <a:t> · </a:t>
            </a:r>
            <a:r>
              <a:rPr lang="en-US" sz="1300" b="1" dirty="0">
                <a:solidFill>
                  <a:srgbClr val="9A6B00"/>
                </a:solidFill>
                <a:latin typeface="Arial" pitchFamily="34" charset="0"/>
                <a:ea typeface="Arial" pitchFamily="34" charset="-122"/>
                <a:cs typeface="Arial" pitchFamily="34" charset="-120"/>
              </a:rPr>
              <a:t>en amarillo, lo que cambia</a:t>
            </a:r>
            <a:endParaRPr lang="en-US" sz="1300" dirty="0"/>
          </a:p>
        </p:txBody>
      </p:sp>
      <p:sp>
        <p:nvSpPr>
          <p:cNvPr id="9" name="Shape 5"/>
          <p:cNvSpPr/>
          <p:nvPr/>
        </p:nvSpPr>
        <p:spPr>
          <a:xfrm>
            <a:off x="5181600" y="1744861"/>
            <a:ext cx="4064000" cy="4064000"/>
          </a:xfrm>
          <a:prstGeom prst="roundRect">
            <a:avLst>
              <a:gd name="adj" fmla="val 2500"/>
            </a:avLst>
          </a:prstGeom>
          <a:solidFill>
            <a:srgbClr val="FFFFFF"/>
          </a:solidFill>
          <a:ln/>
        </p:spPr>
      </p:sp>
      <p:pic>
        <p:nvPicPr>
          <p:cNvPr id="10" name="Image 2" descr="Las mismas tablas en PostgreSQL, con IDENTITY y la modalidad como VARCHAR con CHECK resaltados">    </p:cNvPr>
          <p:cNvPicPr>
            <a:picLocks noChangeAspect="1"/>
          </p:cNvPicPr>
          <p:nvPr/>
        </p:nvPicPr>
        <p:blipFill>
          <a:blip r:embed="rId3"/>
          <a:srcRect l="-263" r="-263" t="0" b="0"/>
          <a:stretch/>
        </p:blipFill>
        <p:spPr>
          <a:xfrm>
            <a:off x="5194300" y="1757561"/>
            <a:ext cx="4038600" cy="4038600"/>
          </a:xfrm>
          <a:prstGeom prst="roundRect">
            <a:avLst>
              <a:gd name="adj" fmla="val 2201"/>
            </a:avLst>
          </a:prstGeom>
        </p:spPr>
      </p:pic>
      <p:sp>
        <p:nvSpPr>
          <p:cNvPr id="11" name="Shape 6"/>
          <p:cNvSpPr/>
          <p:nvPr/>
        </p:nvSpPr>
        <p:spPr>
          <a:xfrm>
            <a:off x="5187950" y="1751211"/>
            <a:ext cx="4051300" cy="4051300"/>
          </a:xfrm>
          <a:prstGeom prst="roundRect">
            <a:avLst>
              <a:gd name="adj" fmla="val 2351"/>
            </a:avLst>
          </a:prstGeom>
          <a:noFill/>
          <a:ln w="12700">
            <a:solidFill>
              <a:srgbClr val="DCE2EC"/>
            </a:solidFill>
            <a:prstDash val="solid"/>
          </a:ln>
        </p:spPr>
      </p:sp>
      <p:sp>
        <p:nvSpPr>
          <p:cNvPr id="12" name="Shape 7"/>
          <p:cNvSpPr/>
          <p:nvPr/>
        </p:nvSpPr>
        <p:spPr>
          <a:xfrm>
            <a:off x="9474200" y="2321719"/>
            <a:ext cx="1905000" cy="2603004"/>
          </a:xfrm>
          <a:prstGeom prst="roundRect">
            <a:avLst>
              <a:gd name="adj" fmla="val 6667"/>
            </a:avLst>
          </a:prstGeom>
          <a:solidFill>
            <a:srgbClr val="14213D"/>
          </a:solidFill>
          <a:ln/>
        </p:spPr>
      </p:sp>
      <p:sp>
        <p:nvSpPr>
          <p:cNvPr id="13" name="Text 8"/>
          <p:cNvSpPr/>
          <p:nvPr/>
        </p:nvSpPr>
        <p:spPr>
          <a:xfrm>
            <a:off x="9652000" y="2499519"/>
            <a:ext cx="160020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Arial" pitchFamily="34" charset="0"/>
                <a:ea typeface="Arial" pitchFamily="34" charset="-122"/>
                <a:cs typeface="Arial" pitchFamily="34" charset="-120"/>
              </a:rPr>
              <a:t>EL CAMBIO CLAVE</a:t>
            </a:r>
            <a:endParaRPr lang="en-US" sz="1200" dirty="0"/>
          </a:p>
        </p:txBody>
      </p:sp>
      <p:sp>
        <p:nvSpPr>
          <p:cNvPr id="14" name="Text 9"/>
          <p:cNvSpPr/>
          <p:nvPr/>
        </p:nvSpPr>
        <p:spPr>
          <a:xfrm>
            <a:off x="9652000" y="3027759"/>
            <a:ext cx="16002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Arial" pitchFamily="34" charset="0"/>
                <a:ea typeface="Arial" pitchFamily="34" charset="-122"/>
                <a:cs typeface="Arial" pitchFamily="34" charset="-120"/>
              </a:rPr>
              <a:t>PostgreSQL no admite </a:t>
            </a:r>
            <a:r>
              <a:rPr lang="en-US" sz="1300" b="1" dirty="0">
                <a:solidFill>
                  <a:srgbClr val="F6F5F0"/>
                </a:solidFill>
                <a:latin typeface="Arial" pitchFamily="34" charset="0"/>
                <a:ea typeface="Arial" pitchFamily="34" charset="-122"/>
                <a:cs typeface="Arial" pitchFamily="34" charset="-120"/>
              </a:rPr>
              <a:t>ENUM</a:t>
            </a:r>
            <a:r>
              <a:rPr lang="en-US" sz="1300" dirty="0">
                <a:solidFill>
                  <a:srgbClr val="F6F5F0"/>
                </a:solidFill>
                <a:latin typeface="Arial" pitchFamily="34" charset="0"/>
                <a:ea typeface="Arial" pitchFamily="34" charset="-122"/>
                <a:cs typeface="Arial" pitchFamily="34" charset="-120"/>
              </a:rPr>
              <a:t> dentro de la tabla.</a:t>
            </a:r>
            <a:endParaRPr lang="en-US" sz="1300" dirty="0"/>
          </a:p>
        </p:txBody>
      </p:sp>
      <p:sp>
        <p:nvSpPr>
          <p:cNvPr id="15" name="Text 10"/>
          <p:cNvSpPr/>
          <p:nvPr/>
        </p:nvSpPr>
        <p:spPr>
          <a:xfrm>
            <a:off x="9652000" y="3822601"/>
            <a:ext cx="16002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Arial" pitchFamily="34" charset="0"/>
                <a:ea typeface="Arial" pitchFamily="34" charset="-122"/>
                <a:cs typeface="Arial" pitchFamily="34" charset="-120"/>
              </a:rPr>
              <a:t>Usamos </a:t>
            </a:r>
            <a:r>
              <a:rPr lang="en-US" sz="1300" b="1" dirty="0">
                <a:solidFill>
                  <a:srgbClr val="F6F5F0"/>
                </a:solidFill>
                <a:latin typeface="Arial" pitchFamily="34" charset="0"/>
                <a:ea typeface="Arial" pitchFamily="34" charset="-122"/>
                <a:cs typeface="Arial" pitchFamily="34" charset="-120"/>
              </a:rPr>
              <a:t>VARCHAR + CHECK</a:t>
            </a:r>
            <a:r>
              <a:rPr lang="en-US" sz="1300" dirty="0">
                <a:solidFill>
                  <a:srgbClr val="F6F5F0"/>
                </a:solidFill>
                <a:latin typeface="Arial" pitchFamily="34" charset="0"/>
                <a:ea typeface="Arial" pitchFamily="34" charset="-122"/>
                <a:cs typeface="Arial" pitchFamily="34" charset="-120"/>
              </a:rPr>
              <a:t>: solo deja guardar </a:t>
            </a:r>
            <a:r>
              <a:rPr lang="en-US" sz="1300" dirty="0">
                <a:solidFill>
                  <a:srgbClr val="A6E3A1"/>
                </a:solidFill>
                <a:latin typeface="Arial" pitchFamily="34" charset="0"/>
                <a:ea typeface="Arial" pitchFamily="34" charset="-122"/>
                <a:cs typeface="Arial" pitchFamily="34" charset="-120"/>
              </a:rPr>
              <a:t>presencial</a:t>
            </a:r>
            <a:r>
              <a:rPr lang="en-US" sz="1300" dirty="0">
                <a:solidFill>
                  <a:srgbClr val="F6F5F0"/>
                </a:solidFill>
                <a:latin typeface="Arial" pitchFamily="34" charset="0"/>
                <a:ea typeface="Arial" pitchFamily="34" charset="-122"/>
                <a:cs typeface="Arial" pitchFamily="34" charset="-120"/>
              </a:rPr>
              <a:t> u </a:t>
            </a:r>
            <a:r>
              <a:rPr lang="en-US" sz="1300" dirty="0">
                <a:solidFill>
                  <a:srgbClr val="A6E3A1"/>
                </a:solidFill>
                <a:latin typeface="Arial" pitchFamily="34" charset="0"/>
                <a:ea typeface="Arial" pitchFamily="34" charset="-122"/>
                <a:cs typeface="Arial" pitchFamily="34" charset="-120"/>
              </a:rPr>
              <a:t>online</a:t>
            </a:r>
            <a:r>
              <a:rPr lang="en-US" sz="1300" dirty="0">
                <a:solidFill>
                  <a:srgbClr val="F6F5F0"/>
                </a:solidFill>
                <a:latin typeface="Arial" pitchFamily="34" charset="0"/>
                <a:ea typeface="Arial" pitchFamily="34" charset="-122"/>
                <a:cs typeface="Arial" pitchFamily="34" charset="-120"/>
              </a:rPr>
              <a:t>.</a:t>
            </a:r>
            <a:endParaRPr lang="en-US" sz="13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5 · Script de creación (2/2)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991989"/>
          </a:xfrm>
          <a:prstGeom prst="rect">
            <a:avLst/>
          </a:prstGeom>
          <a:noFill/>
          <a:ln/>
        </p:spPr>
        <p:txBody>
          <a:bodyPr wrap="square" lIns="0" tIns="0" rIns="0" bIns="0" rtlCol="0" anchor="t">
            <a:normAutofit/>
          </a:bodyPr>
          <a:lstStyle/>
          <a:p>
            <a:pPr algn="l" indent="0" marL="0">
              <a:lnSpc>
                <a:spcPts val="3898"/>
              </a:lnSpc>
              <a:buNone/>
            </a:pPr>
            <a:r>
              <a:rPr lang="en-US" sz="3544" b="1" i="0" dirty="0">
                <a:solidFill>
                  <a:srgbClr val="14213D"/>
                </a:solidFill>
                <a:latin typeface="Arial" pitchFamily="34" charset="0"/>
                <a:ea typeface="Arial" pitchFamily="34" charset="-122"/>
                <a:cs typeface="Arial" pitchFamily="34" charset="-120"/>
              </a:rPr>
              <a:t>El esquema ya creado, visto en dos herramientas</a:t>
            </a:r>
            <a:endParaRPr lang="en-US" sz="3544" dirty="0"/>
          </a:p>
        </p:txBody>
      </p:sp>
      <p:sp>
        <p:nvSpPr>
          <p:cNvPr id="3" name="Shape 1"/>
          <p:cNvSpPr/>
          <p:nvPr/>
        </p:nvSpPr>
        <p:spPr>
          <a:xfrm>
            <a:off x="812800" y="1982589"/>
            <a:ext cx="5156200" cy="3536057"/>
          </a:xfrm>
          <a:prstGeom prst="roundRect">
            <a:avLst>
              <a:gd name="adj" fmla="val 2873"/>
            </a:avLst>
          </a:prstGeom>
          <a:solidFill>
            <a:srgbClr val="FFFFFF"/>
          </a:solidFill>
          <a:ln/>
        </p:spPr>
      </p:sp>
      <p:pic>
        <p:nvPicPr>
          <p:cNvPr id="4" name="Image 0" descr="Schema Visualizer de Supabase con las 8 tablas">    </p:cNvPr>
          <p:cNvPicPr>
            <a:picLocks noChangeAspect="1"/>
          </p:cNvPicPr>
          <p:nvPr/>
        </p:nvPicPr>
        <p:blipFill>
          <a:blip r:embed="rId1"/>
          <a:stretch>
            <a:fillRect/>
          </a:stretch>
        </p:blipFill>
        <p:spPr>
          <a:xfrm>
            <a:off x="1567686" y="1995289"/>
            <a:ext cx="3646428" cy="3510657"/>
          </a:xfrm>
          <a:prstGeom prst="rect">
            <a:avLst/>
          </a:prstGeom>
        </p:spPr>
      </p:pic>
      <p:sp>
        <p:nvSpPr>
          <p:cNvPr id="5" name="Shape 2"/>
          <p:cNvSpPr/>
          <p:nvPr/>
        </p:nvSpPr>
        <p:spPr>
          <a:xfrm>
            <a:off x="819150" y="1988939"/>
            <a:ext cx="5143500" cy="3523357"/>
          </a:xfrm>
          <a:prstGeom prst="roundRect">
            <a:avLst>
              <a:gd name="adj" fmla="val 2703"/>
            </a:avLst>
          </a:prstGeom>
          <a:noFill/>
          <a:ln w="12700">
            <a:solidFill>
              <a:srgbClr val="DCE2EC"/>
            </a:solidFill>
            <a:prstDash val="solid"/>
          </a:ln>
        </p:spPr>
      </p:sp>
      <p:sp>
        <p:nvSpPr>
          <p:cNvPr id="6" name="Text 3"/>
          <p:cNvSpPr/>
          <p:nvPr/>
        </p:nvSpPr>
        <p:spPr>
          <a:xfrm>
            <a:off x="812800" y="5620246"/>
            <a:ext cx="5310886" cy="247154"/>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4213D"/>
                </a:solidFill>
                <a:latin typeface="Arial" pitchFamily="34" charset="0"/>
                <a:ea typeface="Arial" pitchFamily="34" charset="-122"/>
                <a:cs typeface="Arial" pitchFamily="34" charset="-120"/>
              </a:rPr>
              <a:t>Supabase</a:t>
            </a:r>
            <a:r>
              <a:rPr lang="en-US" sz="1268" dirty="0">
                <a:solidFill>
                  <a:srgbClr val="3E4A5E"/>
                </a:solidFill>
                <a:latin typeface="Arial" pitchFamily="34" charset="0"/>
                <a:ea typeface="Arial" pitchFamily="34" charset="-122"/>
                <a:cs typeface="Arial" pitchFamily="34" charset="-120"/>
              </a:rPr>
              <a:t> · Schema Visualizer</a:t>
            </a:r>
            <a:endParaRPr lang="en-US" sz="1268" dirty="0"/>
          </a:p>
        </p:txBody>
      </p:sp>
      <p:sp>
        <p:nvSpPr>
          <p:cNvPr id="7" name="Shape 4"/>
          <p:cNvSpPr/>
          <p:nvPr/>
        </p:nvSpPr>
        <p:spPr>
          <a:xfrm>
            <a:off x="6223000" y="1982589"/>
            <a:ext cx="5156200" cy="3536057"/>
          </a:xfrm>
          <a:prstGeom prst="roundRect">
            <a:avLst>
              <a:gd name="adj" fmla="val 2873"/>
            </a:avLst>
          </a:prstGeom>
          <a:solidFill>
            <a:srgbClr val="FFFFFF"/>
          </a:solidFill>
          <a:ln/>
        </p:spPr>
      </p:sp>
      <p:pic>
        <p:nvPicPr>
          <p:cNvPr id="8" name="Image 1" descr="Ingeniería inversa del esquema en MySQL Workbench">    </p:cNvPr>
          <p:cNvPicPr>
            <a:picLocks noChangeAspect="1"/>
          </p:cNvPicPr>
          <p:nvPr/>
        </p:nvPicPr>
        <p:blipFill>
          <a:blip r:embed="rId2"/>
          <a:stretch>
            <a:fillRect/>
          </a:stretch>
        </p:blipFill>
        <p:spPr>
          <a:xfrm>
            <a:off x="6688797" y="1995289"/>
            <a:ext cx="4224606" cy="3510657"/>
          </a:xfrm>
          <a:prstGeom prst="rect">
            <a:avLst/>
          </a:prstGeom>
        </p:spPr>
      </p:pic>
      <p:sp>
        <p:nvSpPr>
          <p:cNvPr id="9" name="Shape 5"/>
          <p:cNvSpPr/>
          <p:nvPr/>
        </p:nvSpPr>
        <p:spPr>
          <a:xfrm>
            <a:off x="6229350" y="1988939"/>
            <a:ext cx="5143500" cy="3523357"/>
          </a:xfrm>
          <a:prstGeom prst="roundRect">
            <a:avLst>
              <a:gd name="adj" fmla="val 2703"/>
            </a:avLst>
          </a:prstGeom>
          <a:noFill/>
          <a:ln w="12700">
            <a:solidFill>
              <a:srgbClr val="DCE2EC"/>
            </a:solidFill>
            <a:prstDash val="solid"/>
          </a:ln>
        </p:spPr>
      </p:sp>
      <p:sp>
        <p:nvSpPr>
          <p:cNvPr id="10" name="Text 6"/>
          <p:cNvSpPr/>
          <p:nvPr/>
        </p:nvSpPr>
        <p:spPr>
          <a:xfrm>
            <a:off x="6223000" y="5620246"/>
            <a:ext cx="5310886" cy="247154"/>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4213D"/>
                </a:solidFill>
                <a:latin typeface="Arial" pitchFamily="34" charset="0"/>
                <a:ea typeface="Arial" pitchFamily="34" charset="-122"/>
                <a:cs typeface="Arial" pitchFamily="34" charset="-120"/>
              </a:rPr>
              <a:t>MySQL Workbench</a:t>
            </a:r>
            <a:r>
              <a:rPr lang="en-US" sz="1268" dirty="0">
                <a:solidFill>
                  <a:srgbClr val="3E4A5E"/>
                </a:solidFill>
                <a:latin typeface="Arial" pitchFamily="34" charset="0"/>
                <a:ea typeface="Arial" pitchFamily="34" charset="-122"/>
                <a:cs typeface="Arial" pitchFamily="34" charset="-120"/>
              </a:rPr>
              <a:t> · Ingeniería inversa: más clara</a:t>
            </a:r>
            <a:endParaRPr lang="en-US" sz="1268" dirty="0"/>
          </a:p>
        </p:txBody>
      </p:sp>
      <p:sp>
        <p:nvSpPr>
          <p:cNvPr id="11"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5</a:t>
            </a:r>
            <a:endParaRPr lang="en-US" sz="1200" dirty="0"/>
          </a:p>
        </p:txBody>
      </p:sp>
      <p:sp>
        <p:nvSpPr>
          <p:cNvPr id="12"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¿Se han cargado todos los datos?</a:t>
            </a:r>
            <a:endParaRPr lang="en-US" sz="3600" dirty="0"/>
          </a:p>
        </p:txBody>
      </p:sp>
      <p:sp>
        <p:nvSpPr>
          <p:cNvPr id="3" name="Shape 1"/>
          <p:cNvSpPr/>
          <p:nvPr/>
        </p:nvSpPr>
        <p:spPr>
          <a:xfrm>
            <a:off x="812800" y="1518841"/>
            <a:ext cx="4191000" cy="4191000"/>
          </a:xfrm>
          <a:prstGeom prst="roundRect">
            <a:avLst>
              <a:gd name="adj" fmla="val 2424"/>
            </a:avLst>
          </a:prstGeom>
          <a:solidFill>
            <a:srgbClr val="FFFFFF"/>
          </a:solidFill>
          <a:ln/>
        </p:spPr>
      </p:sp>
      <p:pic>
        <p:nvPicPr>
          <p:cNvPr id="4" name="Image 0" descr="Consulta de recuento de filas ejecutada en el SQL Editor de Supabase">    </p:cNvPr>
          <p:cNvPicPr>
            <a:picLocks noChangeAspect="1"/>
          </p:cNvPicPr>
          <p:nvPr/>
        </p:nvPicPr>
        <p:blipFill>
          <a:blip r:embed="rId1"/>
          <a:stretch>
            <a:fillRect/>
          </a:stretch>
        </p:blipFill>
        <p:spPr>
          <a:xfrm>
            <a:off x="871014" y="1531541"/>
            <a:ext cx="4074572" cy="4165600"/>
          </a:xfrm>
          <a:custGeom>
            <a:avLst/>
            <a:gdLst/>
            <a:ahLst/>
            <a:cxnLst/>
            <a:rect l="l" t="t" r="r" b="b"/>
            <a:pathLst>
              <a:path w="4074572" h="4165600">
                <a:moveTo>
                  <a:pt x="0" y="11306"/>
                </a:moveTo>
                <a:arcTo wR="88900" hR="88900" stAng="14447316" swAng="1752684"/>
                <a:lnTo>
                  <a:pt x="4031186" y="0"/>
                </a:lnTo>
                <a:arcTo wR="88900" hR="88900" stAng="16200000" swAng="1752684"/>
                <a:lnTo>
                  <a:pt x="4074572" y="4154294"/>
                </a:lnTo>
                <a:arcTo wR="88900" hR="88900" stAng="3647316" swAng="1752684"/>
                <a:lnTo>
                  <a:pt x="43386" y="4165600"/>
                </a:lnTo>
                <a:arcTo wR="88900" hR="88900" stAng="5400000" swAng="1752684"/>
                <a:close/>
              </a:path>
            </a:pathLst>
          </a:custGeom>
        </p:spPr>
      </p:pic>
      <p:sp>
        <p:nvSpPr>
          <p:cNvPr id="5" name="Shape 2"/>
          <p:cNvSpPr/>
          <p:nvPr/>
        </p:nvSpPr>
        <p:spPr>
          <a:xfrm>
            <a:off x="819150" y="1525191"/>
            <a:ext cx="4178300" cy="4178300"/>
          </a:xfrm>
          <a:prstGeom prst="roundRect">
            <a:avLst>
              <a:gd name="adj" fmla="val 2280"/>
            </a:avLst>
          </a:prstGeom>
          <a:noFill/>
          <a:ln w="12700">
            <a:solidFill>
              <a:srgbClr val="DCE2EC"/>
            </a:solidFill>
            <a:prstDash val="solid"/>
          </a:ln>
        </p:spPr>
      </p:sp>
      <p:sp>
        <p:nvSpPr>
          <p:cNvPr id="6" name="Text 3"/>
          <p:cNvSpPr/>
          <p:nvPr/>
        </p:nvSpPr>
        <p:spPr>
          <a:xfrm>
            <a:off x="5359400" y="1684338"/>
            <a:ext cx="620039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2F6FEB"/>
                </a:solidFill>
                <a:latin typeface="Arial" pitchFamily="34" charset="0"/>
                <a:ea typeface="Arial" pitchFamily="34" charset="-122"/>
                <a:cs typeface="Arial" pitchFamily="34" charset="-120"/>
              </a:rPr>
              <a:t>420</a:t>
            </a:r>
            <a:endParaRPr lang="en-US" sz="8000" dirty="0"/>
          </a:p>
        </p:txBody>
      </p:sp>
      <p:sp>
        <p:nvSpPr>
          <p:cNvPr id="7" name="Text 4"/>
          <p:cNvSpPr/>
          <p:nvPr/>
        </p:nvSpPr>
        <p:spPr>
          <a:xfrm>
            <a:off x="5359400" y="2878138"/>
            <a:ext cx="620039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filas en 8 tablas, igual que en los CSV</a:t>
            </a:r>
            <a:endParaRPr lang="en-US" sz="1800" dirty="0"/>
          </a:p>
        </p:txBody>
      </p:sp>
      <p:sp>
        <p:nvSpPr>
          <p:cNvPr id="8" name="Shape 5"/>
          <p:cNvSpPr/>
          <p:nvPr/>
        </p:nvSpPr>
        <p:spPr>
          <a:xfrm>
            <a:off x="5359400" y="3375918"/>
            <a:ext cx="6019800" cy="2168327"/>
          </a:xfrm>
          <a:prstGeom prst="rect">
            <a:avLst/>
          </a:prstGeom>
          <a:solidFill>
            <a:srgbClr val="FFFFF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372100" y="3388618"/>
          <a:ext cx="6007100" cy="2155627"/>
        </p:xfrm>
        <a:graphic>
          <a:graphicData uri="http://schemas.openxmlformats.org/drawingml/2006/table">
            <a:tbl>
              <a:tblPr/>
              <a:tblGrid>
                <a:gridCol w="3724402"/>
                <a:gridCol w="2282698"/>
              </a:tblGrid>
              <a:tr h="35927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Tabla</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820"/>
                        </a:lnSpc>
                        <a:buNone/>
                      </a:pPr>
                      <a:r>
                        <a:rPr lang="en-US" sz="1300" b="1" dirty="0">
                          <a:solidFill>
                            <a:srgbClr val="14213D"/>
                          </a:solidFill>
                          <a:latin typeface="Arial" pitchFamily="34" charset="0"/>
                          <a:ea typeface="Arial" pitchFamily="34" charset="-122"/>
                          <a:cs typeface="Arial" pitchFamily="34" charset="-120"/>
                        </a:rPr>
                        <a:t>Filas</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alumnos · alumnosPromocion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Arial" pitchFamily="34" charset="0"/>
                          <a:ea typeface="Arial" pitchFamily="34" charset="-122"/>
                          <a:cs typeface="Arial" pitchFamily="34" charset="-120"/>
                        </a:rPr>
                        <a:t>52 · 52</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alumnosProyectos (notas)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Arial" pitchFamily="34" charset="0"/>
                          <a:ea typeface="Arial" pitchFamily="34" charset="-122"/>
                          <a:cs typeface="Arial" pitchFamily="34" charset="-120"/>
                        </a:rPr>
                        <a:t>260</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promocionProyectos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claustro · promocionClaustro</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Arial" pitchFamily="34" charset="0"/>
                          <a:ea typeface="Arial" pitchFamily="34" charset="-122"/>
                          <a:cs typeface="Arial" pitchFamily="34" charset="-120"/>
                        </a:rPr>
                        <a:t>10 · 10</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proyectos · promocion</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Arial" pitchFamily="34" charset="0"/>
                          <a:ea typeface="Arial" pitchFamily="34" charset="-122"/>
                          <a:cs typeface="Arial" pitchFamily="34" charset="-120"/>
                        </a:rPr>
                        <a:t>10 · 6</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5 ·  Captura de Supabase</a:t>
            </a:r>
            <a:endParaRPr lang="en-US" sz="1200" dirty="0"/>
          </a:p>
        </p:txBody>
      </p:sp>
      <p:sp>
        <p:nvSpPr>
          <p:cNvPr id="11"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6 · Investigación del equipo de Data Science · 1 de 3</a:t>
            </a:r>
            <a:endParaRPr lang="en-US" sz="1200" dirty="0"/>
          </a:p>
        </p:txBody>
      </p:sp>
      <p:sp>
        <p:nvSpPr>
          <p:cNvPr id="3" name="Text 1"/>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Otra forma de cargar los CSV: con Python</a:t>
            </a:r>
            <a:endParaRPr lang="en-US" sz="3200" dirty="0"/>
          </a:p>
        </p:txBody>
      </p:sp>
      <p:sp>
        <p:nvSpPr>
          <p:cNvPr id="4" name="Text 2"/>
          <p:cNvSpPr/>
          <p:nvPr/>
        </p:nvSpPr>
        <p:spPr>
          <a:xfrm>
            <a:off x="812800" y="1436390"/>
            <a:ext cx="592832" cy="365720"/>
          </a:xfrm>
          <a:prstGeom prst="roundRect">
            <a:avLst>
              <a:gd name="adj" fmla="val 20836"/>
            </a:avLst>
          </a:pr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5F0"/>
                </a:solidFill>
                <a:latin typeface="Arial" pitchFamily="34" charset="0"/>
                <a:ea typeface="Arial" pitchFamily="34" charset="-122"/>
                <a:cs typeface="Arial" pitchFamily="34" charset="-120"/>
              </a:rPr>
              <a:t>CSV</a:t>
            </a:r>
            <a:endParaRPr lang="en-US" sz="1200" dirty="0"/>
          </a:p>
        </p:txBody>
      </p:sp>
      <p:pic>
        <p:nvPicPr>
          <p:cNvPr id="5" name="Image 0" descr="arrow-right">    </p:cNvPr>
          <p:cNvPicPr>
            <a:picLocks noChangeAspect="1"/>
          </p:cNvPicPr>
          <p:nvPr/>
        </p:nvPicPr>
        <p:blipFill>
          <a:blip r:embed="rId1"/>
          <a:srcRect l="0" r="0" t="0" b="0"/>
          <a:stretch/>
        </p:blipFill>
        <p:spPr>
          <a:xfrm>
            <a:off x="1494532" y="1543050"/>
            <a:ext cx="279400" cy="152400"/>
          </a:xfrm>
          <a:prstGeom prst="rect">
            <a:avLst/>
          </a:prstGeom>
        </p:spPr>
      </p:pic>
      <p:sp>
        <p:nvSpPr>
          <p:cNvPr id="6" name="Text 3"/>
          <p:cNvSpPr/>
          <p:nvPr/>
        </p:nvSpPr>
        <p:spPr>
          <a:xfrm>
            <a:off x="1869182" y="1442740"/>
            <a:ext cx="1334393" cy="353020"/>
          </a:xfrm>
          <a:prstGeom prst="roundRect">
            <a:avLst>
              <a:gd name="adj" fmla="val 19786"/>
            </a:avLst>
          </a:prstGeom>
          <a:solidFill>
            <a:srgbClr val="FFFFFF"/>
          </a:solidFill>
          <a:ln w="12700">
            <a:solidFill>
              <a:srgbClr val="2F6FEB"/>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1</a:t>
            </a:r>
            <a:r>
              <a:rPr lang="en-US" sz="1200" dirty="0">
                <a:solidFill>
                  <a:srgbClr val="14213D"/>
                </a:solidFill>
                <a:latin typeface="Arial" pitchFamily="34" charset="0"/>
                <a:ea typeface="Arial" pitchFamily="34" charset="-122"/>
                <a:cs typeface="Arial" pitchFamily="34" charset="-120"/>
              </a:rPr>
              <a:t> Leer · pandas</a:t>
            </a:r>
            <a:endParaRPr lang="en-US" sz="1200" dirty="0"/>
          </a:p>
        </p:txBody>
      </p:sp>
      <p:pic>
        <p:nvPicPr>
          <p:cNvPr id="7" name="Image 1" descr="arrow-right">    </p:cNvPr>
          <p:cNvPicPr>
            <a:picLocks noChangeAspect="1"/>
          </p:cNvPicPr>
          <p:nvPr/>
        </p:nvPicPr>
        <p:blipFill>
          <a:blip r:embed="rId2"/>
          <a:srcRect l="0" r="0" t="0" b="0"/>
          <a:stretch/>
        </p:blipFill>
        <p:spPr>
          <a:xfrm>
            <a:off x="3298825" y="1543050"/>
            <a:ext cx="279400" cy="152400"/>
          </a:xfrm>
          <a:prstGeom prst="rect">
            <a:avLst/>
          </a:prstGeom>
        </p:spPr>
      </p:pic>
      <p:sp>
        <p:nvSpPr>
          <p:cNvPr id="8" name="Text 4"/>
          <p:cNvSpPr/>
          <p:nvPr/>
        </p:nvSpPr>
        <p:spPr>
          <a:xfrm>
            <a:off x="3673475" y="1442740"/>
            <a:ext cx="1554262" cy="353020"/>
          </a:xfrm>
          <a:prstGeom prst="roundRect">
            <a:avLst>
              <a:gd name="adj" fmla="val 19786"/>
            </a:avLst>
          </a:prstGeom>
          <a:solidFill>
            <a:srgbClr val="FFFFFF"/>
          </a:solidFill>
          <a:ln w="12700">
            <a:solidFill>
              <a:srgbClr val="DCE2EC"/>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2</a:t>
            </a:r>
            <a:r>
              <a:rPr lang="en-US" sz="1200" dirty="0">
                <a:solidFill>
                  <a:srgbClr val="14213D"/>
                </a:solidFill>
                <a:latin typeface="Arial" pitchFamily="34" charset="0"/>
                <a:ea typeface="Arial" pitchFamily="34" charset="-122"/>
                <a:cs typeface="Arial" pitchFamily="34" charset="-120"/>
              </a:rPr>
              <a:t> Unir y crear tabla</a:t>
            </a:r>
            <a:endParaRPr lang="en-US" sz="1200" dirty="0"/>
          </a:p>
        </p:txBody>
      </p:sp>
      <p:pic>
        <p:nvPicPr>
          <p:cNvPr id="9" name="Image 2" descr="arrow-right">    </p:cNvPr>
          <p:cNvPicPr>
            <a:picLocks noChangeAspect="1"/>
          </p:cNvPicPr>
          <p:nvPr/>
        </p:nvPicPr>
        <p:blipFill>
          <a:blip r:embed="rId3"/>
          <a:srcRect l="0" r="0" t="0" b="0"/>
          <a:stretch/>
        </p:blipFill>
        <p:spPr>
          <a:xfrm>
            <a:off x="5322987" y="1543050"/>
            <a:ext cx="279400" cy="152400"/>
          </a:xfrm>
          <a:prstGeom prst="rect">
            <a:avLst/>
          </a:prstGeom>
        </p:spPr>
      </p:pic>
      <p:sp>
        <p:nvSpPr>
          <p:cNvPr id="10" name="Text 5"/>
          <p:cNvSpPr/>
          <p:nvPr/>
        </p:nvSpPr>
        <p:spPr>
          <a:xfrm>
            <a:off x="5697637" y="1442740"/>
            <a:ext cx="1799927" cy="353020"/>
          </a:xfrm>
          <a:prstGeom prst="roundRect">
            <a:avLst>
              <a:gd name="adj" fmla="val 19786"/>
            </a:avLst>
          </a:prstGeom>
          <a:solidFill>
            <a:srgbClr val="FFFFFF"/>
          </a:solidFill>
          <a:ln w="12700">
            <a:solidFill>
              <a:srgbClr val="DCE2EC"/>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3</a:t>
            </a:r>
            <a:r>
              <a:rPr lang="en-US" sz="1200" dirty="0">
                <a:solidFill>
                  <a:srgbClr val="14213D"/>
                </a:solidFill>
                <a:latin typeface="Arial" pitchFamily="34" charset="0"/>
                <a:ea typeface="Arial" pitchFamily="34" charset="-122"/>
                <a:cs typeface="Arial" pitchFamily="34" charset="-120"/>
              </a:rPr>
              <a:t> Insertar y comprobar</a:t>
            </a:r>
            <a:endParaRPr lang="en-US" sz="1200" dirty="0"/>
          </a:p>
        </p:txBody>
      </p:sp>
      <p:pic>
        <p:nvPicPr>
          <p:cNvPr id="11" name="Image 3" descr="arrow-right">    </p:cNvPr>
          <p:cNvPicPr>
            <a:picLocks noChangeAspect="1"/>
          </p:cNvPicPr>
          <p:nvPr/>
        </p:nvPicPr>
        <p:blipFill>
          <a:blip r:embed="rId4"/>
          <a:srcRect l="0" r="0" t="0" b="0"/>
          <a:stretch/>
        </p:blipFill>
        <p:spPr>
          <a:xfrm>
            <a:off x="7592814" y="1543050"/>
            <a:ext cx="279400" cy="152400"/>
          </a:xfrm>
          <a:prstGeom prst="rect">
            <a:avLst/>
          </a:prstGeom>
        </p:spPr>
      </p:pic>
      <p:sp>
        <p:nvSpPr>
          <p:cNvPr id="12" name="Text 6"/>
          <p:cNvSpPr/>
          <p:nvPr/>
        </p:nvSpPr>
        <p:spPr>
          <a:xfrm>
            <a:off x="7961114" y="1436390"/>
            <a:ext cx="1538387" cy="365720"/>
          </a:xfrm>
          <a:prstGeom prst="roundRect">
            <a:avLst>
              <a:gd name="adj" fmla="val 20836"/>
            </a:avLst>
          </a:pr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5F0"/>
                </a:solidFill>
                <a:latin typeface="Arial" pitchFamily="34" charset="0"/>
                <a:ea typeface="Arial" pitchFamily="34" charset="-122"/>
                <a:cs typeface="Arial" pitchFamily="34" charset="-120"/>
              </a:rPr>
              <a:t>Tabla en la BBDD</a:t>
            </a:r>
            <a:endParaRPr lang="en-US" sz="1200" dirty="0"/>
          </a:p>
        </p:txBody>
      </p:sp>
      <p:sp>
        <p:nvSpPr>
          <p:cNvPr id="13" name="Shape 7"/>
          <p:cNvSpPr/>
          <p:nvPr/>
        </p:nvSpPr>
        <p:spPr>
          <a:xfrm>
            <a:off x="819150" y="1987550"/>
            <a:ext cx="3416300" cy="1094581"/>
          </a:xfrm>
          <a:prstGeom prst="roundRect">
            <a:avLst>
              <a:gd name="adj" fmla="val 11022"/>
            </a:avLst>
          </a:prstGeom>
          <a:solidFill>
            <a:srgbClr val="FFFFFF"/>
          </a:solidFill>
          <a:ln w="12700">
            <a:solidFill>
              <a:srgbClr val="DCE2EC"/>
            </a:solidFill>
            <a:prstDash val="solid"/>
          </a:ln>
        </p:spPr>
      </p:sp>
      <p:sp>
        <p:nvSpPr>
          <p:cNvPr id="14" name="Text 8"/>
          <p:cNvSpPr/>
          <p:nvPr/>
        </p:nvSpPr>
        <p:spPr>
          <a:xfrm>
            <a:off x="1003300" y="21717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LO QUE USAMOS</a:t>
            </a:r>
            <a:endParaRPr lang="en-US" sz="1200" dirty="0"/>
          </a:p>
        </p:txBody>
      </p:sp>
      <p:sp>
        <p:nvSpPr>
          <p:cNvPr id="15" name="Text 9"/>
          <p:cNvSpPr/>
          <p:nvPr/>
        </p:nvSpPr>
        <p:spPr>
          <a:xfrm>
            <a:off x="1003300" y="2435820"/>
            <a:ext cx="31394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Un script SQL con los </a:t>
            </a:r>
            <a:r>
              <a:rPr lang="en-US" sz="1300" b="1" dirty="0">
                <a:solidFill>
                  <a:srgbClr val="14213D"/>
                </a:solidFill>
                <a:latin typeface="Arial" pitchFamily="34" charset="0"/>
                <a:ea typeface="Arial" pitchFamily="34" charset="-122"/>
                <a:cs typeface="Arial" pitchFamily="34" charset="-120"/>
              </a:rPr>
              <a:t>INSERT</a:t>
            </a:r>
            <a:r>
              <a:rPr lang="en-US" sz="1300" dirty="0">
                <a:solidFill>
                  <a:srgbClr val="3E4A5E"/>
                </a:solidFill>
                <a:latin typeface="Arial" pitchFamily="34" charset="0"/>
                <a:ea typeface="Arial" pitchFamily="34" charset="-122"/>
                <a:cs typeface="Arial" pitchFamily="34" charset="-120"/>
              </a:rPr>
              <a:t> ya escritos a partir de los CSV</a:t>
            </a:r>
            <a:endParaRPr lang="en-US" sz="1300" dirty="0"/>
          </a:p>
        </p:txBody>
      </p:sp>
      <p:sp>
        <p:nvSpPr>
          <p:cNvPr id="16" name="Shape 10"/>
          <p:cNvSpPr/>
          <p:nvPr/>
        </p:nvSpPr>
        <p:spPr>
          <a:xfrm>
            <a:off x="812800" y="3215481"/>
            <a:ext cx="3429000" cy="1312962"/>
          </a:xfrm>
          <a:prstGeom prst="roundRect">
            <a:avLst>
              <a:gd name="adj" fmla="val 9673"/>
            </a:avLst>
          </a:prstGeom>
          <a:solidFill>
            <a:srgbClr val="EAEEF6"/>
          </a:solidFill>
          <a:ln/>
        </p:spPr>
      </p:sp>
      <p:sp>
        <p:nvSpPr>
          <p:cNvPr id="17" name="Text 11"/>
          <p:cNvSpPr/>
          <p:nvPr/>
        </p:nvSpPr>
        <p:spPr>
          <a:xfrm>
            <a:off x="990600" y="3393281"/>
            <a:ext cx="31656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LO QUE INVESTIGAMOS</a:t>
            </a:r>
            <a:endParaRPr lang="en-US" sz="1200" dirty="0"/>
          </a:p>
        </p:txBody>
      </p:sp>
      <p:sp>
        <p:nvSpPr>
          <p:cNvPr id="18" name="Text 12"/>
          <p:cNvSpPr/>
          <p:nvPr/>
        </p:nvSpPr>
        <p:spPr>
          <a:xfrm>
            <a:off x="990600" y="3657402"/>
            <a:ext cx="316560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Que un programa en Python lea los CSV y los meta en la tabla </a:t>
            </a:r>
            <a:r>
              <a:rPr lang="en-US" sz="1300" b="1" dirty="0">
                <a:solidFill>
                  <a:srgbClr val="14213D"/>
                </a:solidFill>
                <a:latin typeface="Arial" pitchFamily="34" charset="0"/>
                <a:ea typeface="Arial" pitchFamily="34" charset="-122"/>
                <a:cs typeface="Arial" pitchFamily="34" charset="-120"/>
              </a:rPr>
              <a:t>él solo</a:t>
            </a:r>
            <a:r>
              <a:rPr lang="en-US" sz="1300" dirty="0">
                <a:solidFill>
                  <a:srgbClr val="3E4A5E"/>
                </a:solidFill>
                <a:latin typeface="Arial" pitchFamily="34" charset="0"/>
                <a:ea typeface="Arial" pitchFamily="34" charset="-122"/>
                <a:cs typeface="Arial" pitchFamily="34" charset="-120"/>
              </a:rPr>
              <a:t>, sin escribir ningún INSERT</a:t>
            </a:r>
            <a:endParaRPr lang="en-US" sz="1300" dirty="0"/>
          </a:p>
        </p:txBody>
      </p:sp>
      <p:sp>
        <p:nvSpPr>
          <p:cNvPr id="19" name="Text 13"/>
          <p:cNvSpPr/>
          <p:nvPr/>
        </p:nvSpPr>
        <p:spPr>
          <a:xfrm>
            <a:off x="4495800" y="1981200"/>
            <a:ext cx="708990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Paso 1 ·</a:t>
            </a:r>
            <a:r>
              <a:rPr lang="en-US" sz="1300" b="1" dirty="0">
                <a:solidFill>
                  <a:srgbClr val="14213D"/>
                </a:solidFill>
                <a:latin typeface="Arial" pitchFamily="34" charset="0"/>
                <a:ea typeface="Arial" pitchFamily="34" charset="-122"/>
                <a:cs typeface="Arial" pitchFamily="34" charset="-120"/>
              </a:rPr>
              <a:t> Leer cada CSV y quedarse con nombre y email</a:t>
            </a:r>
            <a:endParaRPr lang="en-US" sz="1300" dirty="0"/>
          </a:p>
        </p:txBody>
      </p:sp>
      <p:sp>
        <p:nvSpPr>
          <p:cNvPr id="20" name="Shape 14"/>
          <p:cNvSpPr/>
          <p:nvPr/>
        </p:nvSpPr>
        <p:spPr>
          <a:xfrm>
            <a:off x="4495800" y="2275780"/>
            <a:ext cx="6883400" cy="3365500"/>
          </a:xfrm>
          <a:prstGeom prst="roundRect">
            <a:avLst>
              <a:gd name="adj" fmla="val 3019"/>
            </a:avLst>
          </a:prstGeom>
          <a:solidFill>
            <a:srgbClr val="1E1E1E"/>
          </a:solidFill>
          <a:ln/>
        </p:spPr>
      </p:sp>
      <p:pic>
        <p:nvPicPr>
          <p:cNvPr id="21" name="Image 4" descr="Código Python que lee los CSV de clase 1 y clase 2 con pandas y se queda con nombre y email">    </p:cNvPr>
          <p:cNvPicPr>
            <a:picLocks noChangeAspect="1"/>
          </p:cNvPicPr>
          <p:nvPr/>
        </p:nvPicPr>
        <p:blipFill>
          <a:blip r:embed="rId5"/>
          <a:stretch>
            <a:fillRect/>
          </a:stretch>
        </p:blipFill>
        <p:spPr>
          <a:xfrm>
            <a:off x="5022684" y="2275780"/>
            <a:ext cx="5829631" cy="3365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761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Paso 2: unir las clases y crear la tabla</a:t>
            </a:r>
            <a:endParaRPr lang="en-US" sz="3200" dirty="0"/>
          </a:p>
        </p:txBody>
      </p:sp>
      <p:sp>
        <p:nvSpPr>
          <p:cNvPr id="3" name="Shape 1"/>
          <p:cNvSpPr/>
          <p:nvPr/>
        </p:nvSpPr>
        <p:spPr>
          <a:xfrm>
            <a:off x="819150" y="1464568"/>
            <a:ext cx="3289300" cy="1325662"/>
          </a:xfrm>
          <a:prstGeom prst="roundRect">
            <a:avLst>
              <a:gd name="adj" fmla="val 9101"/>
            </a:avLst>
          </a:prstGeom>
          <a:solidFill>
            <a:srgbClr val="FFFFFF"/>
          </a:solidFill>
          <a:ln w="12700">
            <a:solidFill>
              <a:srgbClr val="DCE2EC"/>
            </a:solidFill>
            <a:prstDash val="solid"/>
          </a:ln>
        </p:spPr>
      </p:sp>
      <p:sp>
        <p:nvSpPr>
          <p:cNvPr id="4" name="Text 2"/>
          <p:cNvSpPr/>
          <p:nvPr/>
        </p:nvSpPr>
        <p:spPr>
          <a:xfrm>
            <a:off x="1003300" y="1648718"/>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UNIR</a:t>
            </a:r>
            <a:endParaRPr lang="en-US" sz="1200" dirty="0"/>
          </a:p>
        </p:txBody>
      </p:sp>
      <p:sp>
        <p:nvSpPr>
          <p:cNvPr id="5" name="Text 3"/>
          <p:cNvSpPr/>
          <p:nvPr/>
        </p:nvSpPr>
        <p:spPr>
          <a:xfrm>
            <a:off x="1003300" y="1912838"/>
            <a:ext cx="3008630" cy="7186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concat</a:t>
            </a:r>
            <a:r>
              <a:rPr lang="en-US" sz="1300" dirty="0">
                <a:solidFill>
                  <a:srgbClr val="3E4A5E"/>
                </a:solidFill>
                <a:latin typeface="Arial" pitchFamily="34" charset="0"/>
                <a:ea typeface="Arial" pitchFamily="34" charset="-122"/>
                <a:cs typeface="Arial" pitchFamily="34" charset="-120"/>
              </a:rPr>
              <a:t> pone las 4 clases una debajo de otra: una sola lista con los 52 alumnos</a:t>
            </a:r>
            <a:endParaRPr lang="en-US" sz="1300" dirty="0"/>
          </a:p>
        </p:txBody>
      </p:sp>
      <p:sp>
        <p:nvSpPr>
          <p:cNvPr id="6" name="Shape 4"/>
          <p:cNvSpPr/>
          <p:nvPr/>
        </p:nvSpPr>
        <p:spPr>
          <a:xfrm>
            <a:off x="819150" y="2929930"/>
            <a:ext cx="3289300" cy="1094581"/>
          </a:xfrm>
          <a:prstGeom prst="roundRect">
            <a:avLst>
              <a:gd name="adj" fmla="val 11022"/>
            </a:avLst>
          </a:prstGeom>
          <a:solidFill>
            <a:srgbClr val="FFFFFF"/>
          </a:solidFill>
          <a:ln w="12700">
            <a:solidFill>
              <a:srgbClr val="DCE2EC"/>
            </a:solidFill>
            <a:prstDash val="solid"/>
          </a:ln>
        </p:spPr>
      </p:sp>
      <p:sp>
        <p:nvSpPr>
          <p:cNvPr id="7" name="Text 5"/>
          <p:cNvSpPr/>
          <p:nvPr/>
        </p:nvSpPr>
        <p:spPr>
          <a:xfrm>
            <a:off x="1003300" y="3114080"/>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CONECTAR</a:t>
            </a:r>
            <a:endParaRPr lang="en-US" sz="1200" dirty="0"/>
          </a:p>
        </p:txBody>
      </p:sp>
      <p:sp>
        <p:nvSpPr>
          <p:cNvPr id="8" name="Text 6"/>
          <p:cNvSpPr/>
          <p:nvPr/>
        </p:nvSpPr>
        <p:spPr>
          <a:xfrm>
            <a:off x="1003300" y="3378200"/>
            <a:ext cx="300863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SQLAlchemy</a:t>
            </a:r>
            <a:r>
              <a:rPr lang="en-US" sz="1300" dirty="0">
                <a:solidFill>
                  <a:srgbClr val="3E4A5E"/>
                </a:solidFill>
                <a:latin typeface="Arial" pitchFamily="34" charset="0"/>
                <a:ea typeface="Arial" pitchFamily="34" charset="-122"/>
                <a:cs typeface="Arial" pitchFamily="34" charset="-120"/>
              </a:rPr>
              <a:t> es el puente entre Python y la base de datos</a:t>
            </a:r>
            <a:endParaRPr lang="en-US" sz="1300" dirty="0"/>
          </a:p>
        </p:txBody>
      </p:sp>
      <p:sp>
        <p:nvSpPr>
          <p:cNvPr id="9" name="Shape 7"/>
          <p:cNvSpPr/>
          <p:nvPr/>
        </p:nvSpPr>
        <p:spPr>
          <a:xfrm>
            <a:off x="819150" y="4164211"/>
            <a:ext cx="3289300" cy="1094581"/>
          </a:xfrm>
          <a:prstGeom prst="roundRect">
            <a:avLst>
              <a:gd name="adj" fmla="val 11022"/>
            </a:avLst>
          </a:prstGeom>
          <a:solidFill>
            <a:srgbClr val="FFFFFF"/>
          </a:solidFill>
          <a:ln w="12700">
            <a:solidFill>
              <a:srgbClr val="DCE2EC"/>
            </a:solidFill>
            <a:prstDash val="solid"/>
          </a:ln>
        </p:spPr>
      </p:sp>
      <p:sp>
        <p:nvSpPr>
          <p:cNvPr id="10" name="Text 8"/>
          <p:cNvSpPr/>
          <p:nvPr/>
        </p:nvSpPr>
        <p:spPr>
          <a:xfrm>
            <a:off x="1003300" y="4348361"/>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CREAR LA TABLA</a:t>
            </a:r>
            <a:endParaRPr lang="en-US" sz="1200" dirty="0"/>
          </a:p>
        </p:txBody>
      </p:sp>
      <p:sp>
        <p:nvSpPr>
          <p:cNvPr id="11" name="Text 9"/>
          <p:cNvSpPr/>
          <p:nvPr/>
        </p:nvSpPr>
        <p:spPr>
          <a:xfrm>
            <a:off x="1003300" y="4612481"/>
            <a:ext cx="30086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La misma tabla </a:t>
            </a:r>
            <a:r>
              <a:rPr lang="en-US" sz="1300" b="1" dirty="0">
                <a:solidFill>
                  <a:srgbClr val="14213D"/>
                </a:solidFill>
                <a:latin typeface="Arial" pitchFamily="34" charset="0"/>
                <a:ea typeface="Arial" pitchFamily="34" charset="-122"/>
                <a:cs typeface="Arial" pitchFamily="34" charset="-120"/>
              </a:rPr>
              <a:t>alumnos</a:t>
            </a:r>
            <a:r>
              <a:rPr lang="en-US" sz="1300" dirty="0">
                <a:solidFill>
                  <a:srgbClr val="3E4A5E"/>
                </a:solidFill>
                <a:latin typeface="Arial" pitchFamily="34" charset="0"/>
                <a:ea typeface="Arial" pitchFamily="34" charset="-122"/>
                <a:cs typeface="Arial" pitchFamily="34" charset="-120"/>
              </a:rPr>
              <a:t> de nuestro modelo: id (PK), nombre y email</a:t>
            </a:r>
            <a:endParaRPr lang="en-US" sz="1300" dirty="0"/>
          </a:p>
        </p:txBody>
      </p:sp>
      <p:sp>
        <p:nvSpPr>
          <p:cNvPr id="12" name="Text 10"/>
          <p:cNvSpPr/>
          <p:nvPr/>
        </p:nvSpPr>
        <p:spPr>
          <a:xfrm>
            <a:off x="4368800" y="1458218"/>
            <a:ext cx="72207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Unir y conectar</a:t>
            </a:r>
            <a:endParaRPr lang="en-US" sz="1300" dirty="0"/>
          </a:p>
        </p:txBody>
      </p:sp>
      <p:sp>
        <p:nvSpPr>
          <p:cNvPr id="13" name="Shape 11"/>
          <p:cNvSpPr/>
          <p:nvPr/>
        </p:nvSpPr>
        <p:spPr>
          <a:xfrm>
            <a:off x="4368800" y="1752798"/>
            <a:ext cx="7010400" cy="2133600"/>
          </a:xfrm>
          <a:prstGeom prst="roundRect">
            <a:avLst>
              <a:gd name="adj" fmla="val 4762"/>
            </a:avLst>
          </a:prstGeom>
          <a:solidFill>
            <a:srgbClr val="1E1E1E"/>
          </a:solidFill>
          <a:ln/>
        </p:spPr>
      </p:sp>
      <p:pic>
        <p:nvPicPr>
          <p:cNvPr id="14" name="Image 0" descr="Código que une las cuatro clases con concat y crea la conexión a SQLite">    </p:cNvPr>
          <p:cNvPicPr>
            <a:picLocks noChangeAspect="1"/>
          </p:cNvPicPr>
          <p:nvPr/>
        </p:nvPicPr>
        <p:blipFill>
          <a:blip r:embed="rId1"/>
          <a:srcRect l="-56" r="-56" t="0" b="0"/>
          <a:stretch/>
        </p:blipFill>
        <p:spPr>
          <a:xfrm>
            <a:off x="4368800" y="1752798"/>
            <a:ext cx="7010400" cy="2133600"/>
          </a:xfrm>
          <a:prstGeom prst="roundRect">
            <a:avLst>
              <a:gd name="adj" fmla="val 4762"/>
            </a:avLst>
          </a:prstGeom>
        </p:spPr>
      </p:pic>
      <p:sp>
        <p:nvSpPr>
          <p:cNvPr id="15" name="Text 12"/>
          <p:cNvSpPr/>
          <p:nvPr/>
        </p:nvSpPr>
        <p:spPr>
          <a:xfrm>
            <a:off x="4368800" y="3949898"/>
            <a:ext cx="72207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Crear la tabla alumnos</a:t>
            </a:r>
            <a:endParaRPr lang="en-US" sz="1300" dirty="0"/>
          </a:p>
        </p:txBody>
      </p:sp>
      <p:sp>
        <p:nvSpPr>
          <p:cNvPr id="16" name="Shape 13"/>
          <p:cNvSpPr/>
          <p:nvPr/>
        </p:nvSpPr>
        <p:spPr>
          <a:xfrm>
            <a:off x="4368800" y="4244479"/>
            <a:ext cx="7010400" cy="1644650"/>
          </a:xfrm>
          <a:prstGeom prst="roundRect">
            <a:avLst>
              <a:gd name="adj" fmla="val 6178"/>
            </a:avLst>
          </a:prstGeom>
          <a:solidFill>
            <a:srgbClr val="1E1E1E"/>
          </a:solidFill>
          <a:ln/>
        </p:spPr>
      </p:sp>
      <p:pic>
        <p:nvPicPr>
          <p:cNvPr id="17" name="Image 1" descr="Código que crea la tabla alumnos con SQLAlchemy">    </p:cNvPr>
          <p:cNvPicPr>
            <a:picLocks noChangeAspect="1"/>
          </p:cNvPicPr>
          <p:nvPr/>
        </p:nvPicPr>
        <p:blipFill>
          <a:blip r:embed="rId2"/>
          <a:srcRect l="0" r="0" t="-48" b="-48"/>
          <a:stretch/>
        </p:blipFill>
        <p:spPr>
          <a:xfrm>
            <a:off x="4368800" y="4244479"/>
            <a:ext cx="7010400" cy="1644650"/>
          </a:xfrm>
          <a:prstGeom prst="roundRect">
            <a:avLst>
              <a:gd name="adj" fmla="val 6178"/>
            </a:avLst>
          </a:prstGeom>
        </p:spPr>
      </p:pic>
      <p:sp>
        <p:nvSpPr>
          <p:cNvPr id="18"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6 · Investigación del equipo de Data Science · 2 de 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Paso 3: insertar los datos y comprobar que funciona</a:t>
            </a:r>
            <a:endParaRPr lang="en-US" sz="3200" dirty="0"/>
          </a:p>
        </p:txBody>
      </p:sp>
      <p:sp>
        <p:nvSpPr>
          <p:cNvPr id="3" name="Shape 1"/>
          <p:cNvSpPr/>
          <p:nvPr/>
        </p:nvSpPr>
        <p:spPr>
          <a:xfrm>
            <a:off x="819150" y="1469330"/>
            <a:ext cx="3289300" cy="1094581"/>
          </a:xfrm>
          <a:prstGeom prst="roundRect">
            <a:avLst>
              <a:gd name="adj" fmla="val 11022"/>
            </a:avLst>
          </a:prstGeom>
          <a:solidFill>
            <a:srgbClr val="FFFFFF"/>
          </a:solidFill>
          <a:ln w="12700">
            <a:solidFill>
              <a:srgbClr val="DCE2EC"/>
            </a:solidFill>
            <a:prstDash val="solid"/>
          </a:ln>
        </p:spPr>
      </p:sp>
      <p:sp>
        <p:nvSpPr>
          <p:cNvPr id="4" name="Text 2"/>
          <p:cNvSpPr/>
          <p:nvPr/>
        </p:nvSpPr>
        <p:spPr>
          <a:xfrm>
            <a:off x="1003300" y="1653480"/>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INSERTAR</a:t>
            </a:r>
            <a:endParaRPr lang="en-US" sz="1200" dirty="0"/>
          </a:p>
        </p:txBody>
      </p:sp>
      <p:sp>
        <p:nvSpPr>
          <p:cNvPr id="5" name="Text 3"/>
          <p:cNvSpPr/>
          <p:nvPr/>
        </p:nvSpPr>
        <p:spPr>
          <a:xfrm>
            <a:off x="1003300" y="1917601"/>
            <a:ext cx="30086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Una sola línea, </a:t>
            </a:r>
            <a:r>
              <a:rPr lang="en-US" sz="1300" b="1" dirty="0">
                <a:solidFill>
                  <a:srgbClr val="14213D"/>
                </a:solidFill>
                <a:latin typeface="Arial" pitchFamily="34" charset="0"/>
                <a:ea typeface="Arial" pitchFamily="34" charset="-122"/>
                <a:cs typeface="Arial" pitchFamily="34" charset="-120"/>
              </a:rPr>
              <a:t>to_sql</a:t>
            </a:r>
            <a:r>
              <a:rPr lang="en-US" sz="1300" dirty="0">
                <a:solidFill>
                  <a:srgbClr val="3E4A5E"/>
                </a:solidFill>
                <a:latin typeface="Arial" pitchFamily="34" charset="0"/>
                <a:ea typeface="Arial" pitchFamily="34" charset="-122"/>
                <a:cs typeface="Arial" pitchFamily="34" charset="-120"/>
              </a:rPr>
              <a:t>, mete todos los alumnos en la tabla</a:t>
            </a:r>
            <a:endParaRPr lang="en-US" sz="1300" dirty="0"/>
          </a:p>
        </p:txBody>
      </p:sp>
      <p:sp>
        <p:nvSpPr>
          <p:cNvPr id="6" name="Shape 4"/>
          <p:cNvSpPr/>
          <p:nvPr/>
        </p:nvSpPr>
        <p:spPr>
          <a:xfrm>
            <a:off x="812800" y="2697262"/>
            <a:ext cx="3302000" cy="1081881"/>
          </a:xfrm>
          <a:prstGeom prst="roundRect">
            <a:avLst>
              <a:gd name="adj" fmla="val 11739"/>
            </a:avLst>
          </a:prstGeom>
          <a:solidFill>
            <a:srgbClr val="E6F2EB"/>
          </a:solidFill>
          <a:ln/>
        </p:spPr>
      </p:sp>
      <p:sp>
        <p:nvSpPr>
          <p:cNvPr id="7" name="Text 5"/>
          <p:cNvSpPr/>
          <p:nvPr/>
        </p:nvSpPr>
        <p:spPr>
          <a:xfrm>
            <a:off x="990600" y="2875062"/>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D"/>
                </a:solidFill>
                <a:latin typeface="Arial" pitchFamily="34" charset="0"/>
                <a:ea typeface="Arial" pitchFamily="34" charset="-122"/>
                <a:cs typeface="Arial" pitchFamily="34" charset="-120"/>
              </a:rPr>
              <a:t>FUNCIONA</a:t>
            </a:r>
            <a:endParaRPr lang="en-US" sz="1200" dirty="0"/>
          </a:p>
        </p:txBody>
      </p:sp>
      <p:sp>
        <p:nvSpPr>
          <p:cNvPr id="8" name="Text 6"/>
          <p:cNvSpPr/>
          <p:nvPr/>
        </p:nvSpPr>
        <p:spPr>
          <a:xfrm>
            <a:off x="990600" y="3139182"/>
            <a:ext cx="303479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4A3A"/>
                </a:solidFill>
                <a:latin typeface="Arial" pitchFamily="34" charset="0"/>
                <a:ea typeface="Arial" pitchFamily="34" charset="-122"/>
                <a:cs typeface="Arial" pitchFamily="34" charset="-120"/>
              </a:rPr>
              <a:t>Al consultar la tabla salen Jafet, Jorge, Onofre…</a:t>
            </a:r>
            <a:endParaRPr lang="en-US" sz="1300" dirty="0"/>
          </a:p>
        </p:txBody>
      </p:sp>
      <p:sp>
        <p:nvSpPr>
          <p:cNvPr id="9" name="Shape 7"/>
          <p:cNvSpPr/>
          <p:nvPr/>
        </p:nvSpPr>
        <p:spPr>
          <a:xfrm>
            <a:off x="812800" y="3906143"/>
            <a:ext cx="3302000" cy="1312962"/>
          </a:xfrm>
          <a:prstGeom prst="roundRect">
            <a:avLst>
              <a:gd name="adj" fmla="val 9673"/>
            </a:avLst>
          </a:prstGeom>
          <a:solidFill>
            <a:srgbClr val="14213D"/>
          </a:solidFill>
          <a:ln/>
        </p:spPr>
      </p:sp>
      <p:sp>
        <p:nvSpPr>
          <p:cNvPr id="10" name="Text 8"/>
          <p:cNvSpPr/>
          <p:nvPr/>
        </p:nvSpPr>
        <p:spPr>
          <a:xfrm>
            <a:off x="990600" y="4083943"/>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Arial" pitchFamily="34" charset="0"/>
                <a:ea typeface="Arial" pitchFamily="34" charset="-122"/>
                <a:cs typeface="Arial" pitchFamily="34" charset="-120"/>
              </a:rPr>
              <a:t>PROBADO EN SQLITE</a:t>
            </a:r>
            <a:endParaRPr lang="en-US" sz="1200" dirty="0"/>
          </a:p>
        </p:txBody>
      </p:sp>
      <p:sp>
        <p:nvSpPr>
          <p:cNvPr id="11" name="Text 9"/>
          <p:cNvSpPr/>
          <p:nvPr/>
        </p:nvSpPr>
        <p:spPr>
          <a:xfrm>
            <a:off x="990600" y="4348063"/>
            <a:ext cx="303479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Arial" pitchFamily="34" charset="0"/>
                <a:ea typeface="Arial" pitchFamily="34" charset="-122"/>
                <a:cs typeface="Arial" pitchFamily="34" charset="-120"/>
              </a:rPr>
              <a:t>Para Supabase, solo cambia la conexión: </a:t>
            </a:r>
            <a:r>
              <a:rPr lang="en-US" sz="1300" dirty="0">
                <a:solidFill>
                  <a:srgbClr val="A6E3A1"/>
                </a:solidFill>
                <a:latin typeface="Arial" pitchFamily="34" charset="0"/>
                <a:ea typeface="Arial" pitchFamily="34" charset="-122"/>
                <a:cs typeface="Arial" pitchFamily="34" charset="-120"/>
              </a:rPr>
              <a:t>postgresql://…</a:t>
            </a:r>
            <a:r>
              <a:rPr lang="en-US" sz="1300" dirty="0">
                <a:solidFill>
                  <a:srgbClr val="F6F5F0"/>
                </a:solidFill>
                <a:latin typeface="Arial" pitchFamily="34" charset="0"/>
                <a:ea typeface="Arial" pitchFamily="34" charset="-122"/>
                <a:cs typeface="Arial" pitchFamily="34" charset="-120"/>
              </a:rPr>
              <a:t> en vez de </a:t>
            </a:r>
            <a:r>
              <a:rPr lang="en-US" sz="1300" dirty="0">
                <a:solidFill>
                  <a:srgbClr val="A6E3A1"/>
                </a:solidFill>
                <a:latin typeface="Arial" pitchFamily="34" charset="0"/>
                <a:ea typeface="Arial" pitchFamily="34" charset="-122"/>
                <a:cs typeface="Arial" pitchFamily="34" charset="-120"/>
              </a:rPr>
              <a:t>sqlite:///</a:t>
            </a:r>
            <a:endParaRPr lang="en-US" sz="1300" dirty="0"/>
          </a:p>
        </p:txBody>
      </p:sp>
      <p:sp>
        <p:nvSpPr>
          <p:cNvPr id="12" name="Text 10"/>
          <p:cNvSpPr/>
          <p:nvPr/>
        </p:nvSpPr>
        <p:spPr>
          <a:xfrm>
            <a:off x="4368800" y="1462980"/>
            <a:ext cx="72207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Insertar</a:t>
            </a:r>
            <a:endParaRPr lang="en-US" sz="1300" dirty="0"/>
          </a:p>
        </p:txBody>
      </p:sp>
      <p:sp>
        <p:nvSpPr>
          <p:cNvPr id="13" name="Shape 11"/>
          <p:cNvSpPr/>
          <p:nvPr/>
        </p:nvSpPr>
        <p:spPr>
          <a:xfrm>
            <a:off x="4368800" y="1757561"/>
            <a:ext cx="7010400" cy="355600"/>
          </a:xfrm>
          <a:prstGeom prst="roundRect">
            <a:avLst>
              <a:gd name="adj" fmla="val 21429"/>
            </a:avLst>
          </a:prstGeom>
          <a:solidFill>
            <a:srgbClr val="1E1E1E"/>
          </a:solidFill>
          <a:ln/>
        </p:spPr>
      </p:sp>
      <p:pic>
        <p:nvPicPr>
          <p:cNvPr id="14" name="Image 0" descr="Línea que inserta los datos en la tabla alumnos con to_sql">    </p:cNvPr>
          <p:cNvPicPr>
            <a:picLocks noChangeAspect="1"/>
          </p:cNvPicPr>
          <p:nvPr/>
        </p:nvPicPr>
        <p:blipFill>
          <a:blip r:embed="rId1"/>
          <a:stretch>
            <a:fillRect/>
          </a:stretch>
        </p:blipFill>
        <p:spPr>
          <a:xfrm>
            <a:off x="4368800" y="1760101"/>
            <a:ext cx="7010400" cy="350520"/>
          </a:xfrm>
          <a:custGeom>
            <a:avLst/>
            <a:gdLst/>
            <a:ahLst/>
            <a:cxnLst/>
            <a:rect l="l" t="t" r="r" b="b"/>
            <a:pathLst>
              <a:path w="7010400" h="350520">
                <a:moveTo>
                  <a:pt x="0" y="73660"/>
                </a:moveTo>
                <a:arcTo wR="76200" hR="76200" stAng="10800000" swAng="4509893"/>
                <a:lnTo>
                  <a:pt x="6953710" y="0"/>
                </a:lnTo>
                <a:arcTo wR="76200" hR="76200" stAng="17090107" swAng="4509893"/>
                <a:lnTo>
                  <a:pt x="7010400" y="276860"/>
                </a:lnTo>
                <a:arcTo wR="76200" hR="76200" stAng="0" swAng="4509893"/>
                <a:lnTo>
                  <a:pt x="56690" y="350520"/>
                </a:lnTo>
                <a:arcTo wR="76200" hR="76200" stAng="6290107" swAng="4509893"/>
                <a:close/>
              </a:path>
            </a:pathLst>
          </a:custGeom>
        </p:spPr>
      </p:pic>
      <p:sp>
        <p:nvSpPr>
          <p:cNvPr id="15" name="Text 12"/>
          <p:cNvSpPr/>
          <p:nvPr/>
        </p:nvSpPr>
        <p:spPr>
          <a:xfrm>
            <a:off x="4368800" y="2176661"/>
            <a:ext cx="72207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Arial" pitchFamily="34" charset="0"/>
                <a:ea typeface="Arial" pitchFamily="34" charset="-122"/>
                <a:cs typeface="Arial" pitchFamily="34" charset="-120"/>
              </a:rPr>
              <a:t>Contar las filas</a:t>
            </a:r>
            <a:endParaRPr lang="en-US" sz="1300" dirty="0"/>
          </a:p>
        </p:txBody>
      </p:sp>
      <p:sp>
        <p:nvSpPr>
          <p:cNvPr id="16" name="Shape 13"/>
          <p:cNvSpPr/>
          <p:nvPr/>
        </p:nvSpPr>
        <p:spPr>
          <a:xfrm>
            <a:off x="4368800" y="2471241"/>
            <a:ext cx="7010400" cy="1174750"/>
          </a:xfrm>
          <a:prstGeom prst="roundRect">
            <a:avLst>
              <a:gd name="adj" fmla="val 6486"/>
            </a:avLst>
          </a:prstGeom>
          <a:solidFill>
            <a:srgbClr val="1E1E1E"/>
          </a:solidFill>
          <a:ln/>
        </p:spPr>
      </p:sp>
      <p:pic>
        <p:nvPicPr>
          <p:cNvPr id="17" name="Image 1" descr="Código que cuenta las filas de la tabla alumnos con SELECT COUNT">    </p:cNvPr>
          <p:cNvPicPr>
            <a:picLocks noChangeAspect="1"/>
          </p:cNvPicPr>
          <p:nvPr/>
        </p:nvPicPr>
        <p:blipFill>
          <a:blip r:embed="rId2"/>
          <a:srcRect l="0" r="0" t="-115" b="-115"/>
          <a:stretch/>
        </p:blipFill>
        <p:spPr>
          <a:xfrm>
            <a:off x="4368800" y="2471241"/>
            <a:ext cx="7010400" cy="1174750"/>
          </a:xfrm>
          <a:prstGeom prst="roundRect">
            <a:avLst>
              <a:gd name="adj" fmla="val 6486"/>
            </a:avLst>
          </a:prstGeom>
        </p:spPr>
      </p:pic>
      <p:sp>
        <p:nvSpPr>
          <p:cNvPr id="18" name="Text 14"/>
          <p:cNvSpPr/>
          <p:nvPr/>
        </p:nvSpPr>
        <p:spPr>
          <a:xfrm>
            <a:off x="4368800" y="3709491"/>
            <a:ext cx="72207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4D"/>
                </a:solidFill>
                <a:latin typeface="Arial" pitchFamily="34" charset="0"/>
                <a:ea typeface="Arial" pitchFamily="34" charset="-122"/>
                <a:cs typeface="Arial" pitchFamily="34" charset="-120"/>
              </a:rPr>
              <a:t>Resultado: los alumnos ya están en la tabla</a:t>
            </a:r>
            <a:endParaRPr lang="en-US" sz="1300" dirty="0"/>
          </a:p>
        </p:txBody>
      </p:sp>
      <p:sp>
        <p:nvSpPr>
          <p:cNvPr id="19" name="Shape 15"/>
          <p:cNvSpPr/>
          <p:nvPr/>
        </p:nvSpPr>
        <p:spPr>
          <a:xfrm>
            <a:off x="4368800" y="4004072"/>
            <a:ext cx="7010400" cy="1174750"/>
          </a:xfrm>
          <a:prstGeom prst="roundRect">
            <a:avLst>
              <a:gd name="adj" fmla="val 6486"/>
            </a:avLst>
          </a:prstGeom>
          <a:solidFill>
            <a:srgbClr val="1E1E1E"/>
          </a:solidFill>
          <a:ln/>
        </p:spPr>
      </p:sp>
      <p:pic>
        <p:nvPicPr>
          <p:cNvPr id="20" name="Image 2" descr="Resultado de SELECT * FROM alumnos LIMIT 5 con los cinco primeros alumnos cargados">    </p:cNvPr>
          <p:cNvPicPr>
            <a:picLocks noChangeAspect="1"/>
          </p:cNvPicPr>
          <p:nvPr/>
        </p:nvPicPr>
        <p:blipFill>
          <a:blip r:embed="rId3"/>
          <a:srcRect l="0" r="0" t="-115" b="-115"/>
          <a:stretch/>
        </p:blipFill>
        <p:spPr>
          <a:xfrm>
            <a:off x="4368800" y="4004072"/>
            <a:ext cx="7010400" cy="1174750"/>
          </a:xfrm>
          <a:prstGeom prst="roundRect">
            <a:avLst>
              <a:gd name="adj" fmla="val 6486"/>
            </a:avLst>
          </a:prstGeom>
        </p:spPr>
      </p:pic>
      <p:sp>
        <p:nvSpPr>
          <p:cNvPr id="21"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6 · Investigación del equipo de Data Science · 3 de 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6 · Captura de Supabase</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16</a:t>
            </a:r>
            <a:endParaRPr lang="en-US" sz="1200" dirty="0"/>
          </a:p>
        </p:txBody>
      </p:sp>
      <p:sp>
        <p:nvSpPr>
          <p:cNvPr id="4" name="Text 2"/>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Demo: ¿qué proyecto cuesta más?</a:t>
            </a:r>
            <a:endParaRPr lang="en-US" sz="3600" dirty="0"/>
          </a:p>
        </p:txBody>
      </p:sp>
      <p:sp>
        <p:nvSpPr>
          <p:cNvPr id="5" name="Shape 3"/>
          <p:cNvSpPr/>
          <p:nvPr/>
        </p:nvSpPr>
        <p:spPr>
          <a:xfrm>
            <a:off x="812800" y="1517650"/>
            <a:ext cx="4191000" cy="4191000"/>
          </a:xfrm>
          <a:prstGeom prst="roundRect">
            <a:avLst>
              <a:gd name="adj" fmla="val 2424"/>
            </a:avLst>
          </a:prstGeom>
          <a:solidFill>
            <a:srgbClr val="FFFFFF"/>
          </a:solidFill>
          <a:ln/>
        </p:spPr>
      </p:sp>
      <p:pic>
        <p:nvPicPr>
          <p:cNvPr id="6" name="Image 0" descr="Consulta del porcentaje de aptos por proyecto ejecutada en Supabase">    </p:cNvPr>
          <p:cNvPicPr>
            <a:picLocks noChangeAspect="1"/>
          </p:cNvPicPr>
          <p:nvPr/>
        </p:nvPicPr>
        <p:blipFill>
          <a:blip r:embed="rId1"/>
          <a:stretch>
            <a:fillRect/>
          </a:stretch>
        </p:blipFill>
        <p:spPr>
          <a:xfrm>
            <a:off x="871014" y="1530350"/>
            <a:ext cx="4074572" cy="4165600"/>
          </a:xfrm>
          <a:custGeom>
            <a:avLst/>
            <a:gdLst/>
            <a:ahLst/>
            <a:cxnLst/>
            <a:rect l="l" t="t" r="r" b="b"/>
            <a:pathLst>
              <a:path w="4074572" h="4165600">
                <a:moveTo>
                  <a:pt x="0" y="11306"/>
                </a:moveTo>
                <a:arcTo wR="88900" hR="88900" stAng="14447316" swAng="1752684"/>
                <a:lnTo>
                  <a:pt x="4031186" y="0"/>
                </a:lnTo>
                <a:arcTo wR="88900" hR="88900" stAng="16200000" swAng="1752684"/>
                <a:lnTo>
                  <a:pt x="4074572" y="4154294"/>
                </a:lnTo>
                <a:arcTo wR="88900" hR="88900" stAng="3647316" swAng="1752684"/>
                <a:lnTo>
                  <a:pt x="43386" y="4165600"/>
                </a:lnTo>
                <a:arcTo wR="88900" hR="88900" stAng="5400000" swAng="1752684"/>
                <a:close/>
              </a:path>
            </a:pathLst>
          </a:custGeom>
        </p:spPr>
      </p:pic>
      <p:sp>
        <p:nvSpPr>
          <p:cNvPr id="7" name="Shape 4"/>
          <p:cNvSpPr/>
          <p:nvPr/>
        </p:nvSpPr>
        <p:spPr>
          <a:xfrm>
            <a:off x="819150" y="1524000"/>
            <a:ext cx="4178300" cy="4178300"/>
          </a:xfrm>
          <a:prstGeom prst="roundRect">
            <a:avLst>
              <a:gd name="adj" fmla="val 2280"/>
            </a:avLst>
          </a:prstGeom>
          <a:noFill/>
          <a:ln w="12700">
            <a:solidFill>
              <a:srgbClr val="DCE2EC"/>
            </a:solidFill>
            <a:prstDash val="solid"/>
          </a:ln>
        </p:spPr>
      </p:sp>
      <p:sp>
        <p:nvSpPr>
          <p:cNvPr id="8" name="Shape 5"/>
          <p:cNvSpPr/>
          <p:nvPr/>
        </p:nvSpPr>
        <p:spPr>
          <a:xfrm>
            <a:off x="5359400" y="2236589"/>
            <a:ext cx="2921000" cy="1315641"/>
          </a:xfrm>
          <a:prstGeom prst="roundRect">
            <a:avLst>
              <a:gd name="adj" fmla="val 9653"/>
            </a:avLst>
          </a:prstGeom>
          <a:solidFill>
            <a:srgbClr val="FFF1E5"/>
          </a:solidFill>
          <a:ln/>
        </p:spPr>
      </p:sp>
      <p:sp>
        <p:nvSpPr>
          <p:cNvPr id="9" name="Text 6"/>
          <p:cNvSpPr/>
          <p:nvPr/>
        </p:nvSpPr>
        <p:spPr>
          <a:xfrm>
            <a:off x="5562600" y="2439789"/>
            <a:ext cx="259003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5309"/>
                </a:solidFill>
                <a:latin typeface="Arial" pitchFamily="34" charset="0"/>
                <a:ea typeface="Arial" pitchFamily="34" charset="-122"/>
                <a:cs typeface="Arial" pitchFamily="34" charset="-120"/>
              </a:rPr>
              <a:t>56 %</a:t>
            </a:r>
            <a:endParaRPr lang="en-US" sz="4800" dirty="0"/>
          </a:p>
        </p:txBody>
      </p:sp>
      <p:sp>
        <p:nvSpPr>
          <p:cNvPr id="10" name="Text 7"/>
          <p:cNvSpPr/>
          <p:nvPr/>
        </p:nvSpPr>
        <p:spPr>
          <a:xfrm>
            <a:off x="5562600" y="3100189"/>
            <a:ext cx="25900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3A1A"/>
                </a:solidFill>
                <a:latin typeface="Arial" pitchFamily="34" charset="0"/>
                <a:ea typeface="Arial" pitchFamily="34" charset="-122"/>
                <a:cs typeface="Arial" pitchFamily="34" charset="-120"/>
              </a:rPr>
              <a:t>aptos en </a:t>
            </a:r>
            <a:r>
              <a:rPr lang="en-US" sz="1400" b="1" dirty="0">
                <a:solidFill>
                  <a:srgbClr val="5A3A1A"/>
                </a:solidFill>
                <a:latin typeface="Arial" pitchFamily="34" charset="0"/>
                <a:ea typeface="Arial" pitchFamily="34" charset="-122"/>
                <a:cs typeface="Arial" pitchFamily="34" charset="-120"/>
              </a:rPr>
              <a:t>EDA</a:t>
            </a:r>
            <a:r>
              <a:rPr lang="en-US" sz="1400" dirty="0">
                <a:solidFill>
                  <a:srgbClr val="5A3A1A"/>
                </a:solidFill>
                <a:latin typeface="Arial" pitchFamily="34" charset="0"/>
                <a:ea typeface="Arial" pitchFamily="34" charset="-122"/>
                <a:cs typeface="Arial" pitchFamily="34" charset="-120"/>
              </a:rPr>
              <a:t>, el más difícil</a:t>
            </a:r>
            <a:endParaRPr lang="en-US" sz="1400" dirty="0"/>
          </a:p>
        </p:txBody>
      </p:sp>
      <p:sp>
        <p:nvSpPr>
          <p:cNvPr id="11" name="Shape 8"/>
          <p:cNvSpPr/>
          <p:nvPr/>
        </p:nvSpPr>
        <p:spPr>
          <a:xfrm>
            <a:off x="8458200" y="2236589"/>
            <a:ext cx="2921000" cy="1315641"/>
          </a:xfrm>
          <a:prstGeom prst="roundRect">
            <a:avLst>
              <a:gd name="adj" fmla="val 9653"/>
            </a:avLst>
          </a:prstGeom>
          <a:solidFill>
            <a:srgbClr val="E6F2EB"/>
          </a:solidFill>
          <a:ln/>
        </p:spPr>
      </p:sp>
      <p:sp>
        <p:nvSpPr>
          <p:cNvPr id="12" name="Text 9"/>
          <p:cNvSpPr/>
          <p:nvPr/>
        </p:nvSpPr>
        <p:spPr>
          <a:xfrm>
            <a:off x="8661400" y="2439789"/>
            <a:ext cx="259003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7A4D"/>
                </a:solidFill>
                <a:latin typeface="Arial" pitchFamily="34" charset="0"/>
                <a:ea typeface="Arial" pitchFamily="34" charset="-122"/>
                <a:cs typeface="Arial" pitchFamily="34" charset="-120"/>
              </a:rPr>
              <a:t>88 %</a:t>
            </a:r>
            <a:endParaRPr lang="en-US" sz="4800" dirty="0"/>
          </a:p>
        </p:txBody>
      </p:sp>
      <p:sp>
        <p:nvSpPr>
          <p:cNvPr id="13" name="Text 10"/>
          <p:cNvSpPr/>
          <p:nvPr/>
        </p:nvSpPr>
        <p:spPr>
          <a:xfrm>
            <a:off x="8661400" y="3100189"/>
            <a:ext cx="25900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4A3A"/>
                </a:solidFill>
                <a:latin typeface="Arial" pitchFamily="34" charset="0"/>
                <a:ea typeface="Arial" pitchFamily="34" charset="-122"/>
                <a:cs typeface="Arial" pitchFamily="34" charset="-120"/>
              </a:rPr>
              <a:t>aptos en </a:t>
            </a:r>
            <a:r>
              <a:rPr lang="en-US" sz="1400" b="1" dirty="0">
                <a:solidFill>
                  <a:srgbClr val="2E4A3A"/>
                </a:solidFill>
                <a:latin typeface="Arial" pitchFamily="34" charset="0"/>
                <a:ea typeface="Arial" pitchFamily="34" charset="-122"/>
                <a:cs typeface="Arial" pitchFamily="34" charset="-120"/>
              </a:rPr>
              <a:t>ML</a:t>
            </a:r>
            <a:r>
              <a:rPr lang="en-US" sz="1400" dirty="0">
                <a:solidFill>
                  <a:srgbClr val="2E4A3A"/>
                </a:solidFill>
                <a:latin typeface="Arial" pitchFamily="34" charset="0"/>
                <a:ea typeface="Arial" pitchFamily="34" charset="-122"/>
                <a:cs typeface="Arial" pitchFamily="34" charset="-120"/>
              </a:rPr>
              <a:t> y </a:t>
            </a:r>
            <a:r>
              <a:rPr lang="en-US" sz="1400" b="1" dirty="0">
                <a:solidFill>
                  <a:srgbClr val="2E4A3A"/>
                </a:solidFill>
                <a:latin typeface="Arial" pitchFamily="34" charset="0"/>
                <a:ea typeface="Arial" pitchFamily="34" charset="-122"/>
                <a:cs typeface="Arial" pitchFamily="34" charset="-120"/>
              </a:rPr>
              <a:t>Deployment</a:t>
            </a:r>
            <a:endParaRPr lang="en-US" sz="1400" dirty="0"/>
          </a:p>
        </p:txBody>
      </p:sp>
      <p:sp>
        <p:nvSpPr>
          <p:cNvPr id="14" name="Text 11"/>
          <p:cNvSpPr/>
          <p:nvPr/>
        </p:nvSpPr>
        <p:spPr>
          <a:xfrm>
            <a:off x="5359400" y="3755430"/>
            <a:ext cx="620039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E"/>
                </a:solidFill>
                <a:latin typeface="Arial" pitchFamily="34" charset="0"/>
                <a:ea typeface="Arial" pitchFamily="34" charset="-122"/>
                <a:cs typeface="Arial" pitchFamily="34" charset="-120"/>
              </a:rPr>
              <a:t>Un </a:t>
            </a:r>
            <a:r>
              <a:rPr lang="en-US" sz="1500" b="1" dirty="0">
                <a:solidFill>
                  <a:srgbClr val="14213D"/>
                </a:solidFill>
                <a:latin typeface="Arial" pitchFamily="34" charset="0"/>
                <a:ea typeface="Arial" pitchFamily="34" charset="-122"/>
                <a:cs typeface="Arial" pitchFamily="34" charset="-120"/>
              </a:rPr>
              <a:t>JOIN</a:t>
            </a:r>
            <a:r>
              <a:rPr lang="en-US" sz="1500" dirty="0">
                <a:solidFill>
                  <a:srgbClr val="3E4A5E"/>
                </a:solidFill>
                <a:latin typeface="Arial" pitchFamily="34" charset="0"/>
                <a:ea typeface="Arial" pitchFamily="34" charset="-122"/>
                <a:cs typeface="Arial" pitchFamily="34" charset="-120"/>
              </a:rPr>
              <a:t> vuelve a juntar las notas con el nombre del proyecto, y </a:t>
            </a:r>
            <a:r>
              <a:rPr lang="en-US" sz="1500" b="1" dirty="0">
                <a:solidFill>
                  <a:srgbClr val="14213D"/>
                </a:solidFill>
                <a:latin typeface="Arial" pitchFamily="34" charset="0"/>
                <a:ea typeface="Arial" pitchFamily="34" charset="-122"/>
                <a:cs typeface="Arial" pitchFamily="34" charset="-120"/>
              </a:rPr>
              <a:t>GROUP BY</a:t>
            </a:r>
            <a:r>
              <a:rPr lang="en-US" sz="1500" dirty="0">
                <a:solidFill>
                  <a:srgbClr val="3E4A5E"/>
                </a:solidFill>
                <a:latin typeface="Arial" pitchFamily="34" charset="0"/>
                <a:ea typeface="Arial" pitchFamily="34" charset="-122"/>
                <a:cs typeface="Arial" pitchFamily="34" charset="-120"/>
              </a:rPr>
              <a:t> calcula el porcentaje de cada uno.</a:t>
            </a:r>
            <a:endParaRPr lang="en-US" sz="1500" dirty="0"/>
          </a:p>
        </p:txBody>
      </p:sp>
      <p:sp>
        <p:nvSpPr>
          <p:cNvPr id="15" name="Text 12"/>
          <p:cNvSpPr/>
          <p:nvPr/>
        </p:nvSpPr>
        <p:spPr>
          <a:xfrm>
            <a:off x="5359400" y="4511080"/>
            <a:ext cx="6200394"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E"/>
                </a:solidFill>
                <a:latin typeface="Arial" pitchFamily="34" charset="0"/>
                <a:ea typeface="Arial" pitchFamily="34" charset="-122"/>
                <a:cs typeface="Arial" pitchFamily="34" charset="-120"/>
              </a:rPr>
              <a:t>Más consultas en el PDF: alumnos por promoción, ficha de un alumno, profesorado y modalidad, alumnos con todo aprobado.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Escalable: crecer es añadir filas</a:t>
            </a:r>
            <a:endParaRPr lang="en-US" sz="3600" dirty="0"/>
          </a:p>
        </p:txBody>
      </p:sp>
      <p:sp>
        <p:nvSpPr>
          <p:cNvPr id="3" name="Text 1"/>
          <p:cNvSpPr/>
          <p:nvPr/>
        </p:nvSpPr>
        <p:spPr>
          <a:xfrm>
            <a:off x="812800" y="1888133"/>
            <a:ext cx="56509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Arial" pitchFamily="34" charset="0"/>
                <a:ea typeface="Arial" pitchFamily="34" charset="-122"/>
                <a:cs typeface="Arial" pitchFamily="34" charset="-120"/>
              </a:rPr>
              <a:t>ABRIR EL CAMPUS DE BARCELONA</a:t>
            </a:r>
            <a:endParaRPr lang="en-US" sz="1200" dirty="0"/>
          </a:p>
        </p:txBody>
      </p:sp>
      <p:sp>
        <p:nvSpPr>
          <p:cNvPr id="4" name="Text 2"/>
          <p:cNvSpPr/>
          <p:nvPr/>
        </p:nvSpPr>
        <p:spPr>
          <a:xfrm>
            <a:off x="812800" y="2253853"/>
            <a:ext cx="5486400" cy="1559322"/>
          </a:xfrm>
          <a:prstGeom prst="roundRect">
            <a:avLst>
              <a:gd name="adj" fmla="val 8145"/>
            </a:avLst>
          </a:prstGeom>
          <a:solidFill>
            <a:srgbClr val="14213D"/>
          </a:solidFill>
          <a:ln/>
        </p:spPr>
        <p:txBody>
          <a:bodyPr wrap="square" lIns="216803" tIns="191403" rIns="67451" bIns="166003" rtlCol="0" anchor="t">
            <a:normAutofit/>
          </a:bodyPr>
          <a:lstStyle/>
          <a:p>
            <a:pPr algn="l" indent="0" marL="0">
              <a:lnSpc>
                <a:spcPts val="2170"/>
              </a:lnSpc>
              <a:buNone/>
            </a:pPr>
            <a:r>
              <a:rPr lang="en-US" sz="1400" dirty="0">
                <a:solidFill>
                  <a:srgbClr val="7FB4FF"/>
                </a:solidFill>
                <a:latin typeface="Courier New" pitchFamily="49" charset="0"/>
                <a:ea typeface="Courier New" pitchFamily="49" charset="-122"/>
                <a:cs typeface="Courier New" pitchFamily="49" charset="-120"/>
              </a:rPr>
              <a:t>INSERT INTO</a:t>
            </a:r>
            <a:r>
              <a:rPr lang="en-US" sz="1400" dirty="0">
                <a:solidFill>
                  <a:srgbClr val="E8EDF6"/>
                </a:solidFill>
                <a:latin typeface="Courier New" pitchFamily="49" charset="0"/>
                <a:ea typeface="Courier New" pitchFamily="49" charset="-122"/>
                <a:cs typeface="Courier New" pitchFamily="49" charset="-120"/>
              </a:rPr>
              <a:t> promocion</a:t>
            </a:r>
            <a:endParaRPr lang="en-US" sz="1400" dirty="0"/>
          </a:p>
          <a:p>
            <a:pPr algn="l" indent="0" marL="0">
              <a:lnSpc>
                <a:spcPts val="2170"/>
              </a:lnSpc>
              <a:buNone/>
            </a:pPr>
            <a:r>
              <a:rPr lang="en-US" sz="1400" dirty="0">
                <a:solidFill>
                  <a:srgbClr val="E8EDF6"/>
                </a:solidFill>
                <a:latin typeface="Courier New" pitchFamily="49" charset="0"/>
                <a:ea typeface="Courier New" pitchFamily="49" charset="-122"/>
                <a:cs typeface="Courier New" pitchFamily="49" charset="-120"/>
              </a:rPr>
              <a:t>(año, fecha_comienzo, campus, vertical)</a:t>
            </a:r>
            <a:endParaRPr lang="en-US" sz="1400" dirty="0"/>
          </a:p>
          <a:p>
            <a:pPr algn="l" indent="0" marL="0">
              <a:lnSpc>
                <a:spcPts val="2170"/>
              </a:lnSpc>
              <a:buNone/>
            </a:pPr>
            <a:r>
              <a:rPr lang="en-US" sz="1400" dirty="0">
                <a:solidFill>
                  <a:srgbClr val="7FB4FF"/>
                </a:solidFill>
                <a:latin typeface="Courier New" pitchFamily="49" charset="0"/>
                <a:ea typeface="Courier New" pitchFamily="49" charset="-122"/>
                <a:cs typeface="Courier New" pitchFamily="49" charset="-120"/>
              </a:rPr>
              <a:t>VALUES</a:t>
            </a:r>
            <a:r>
              <a:rPr lang="en-US" sz="1400" dirty="0">
                <a:solidFill>
                  <a:srgbClr val="E8EDF6"/>
                </a:solidFill>
                <a:latin typeface="Courier New" pitchFamily="49" charset="0"/>
                <a:ea typeface="Courier New" pitchFamily="49" charset="-122"/>
                <a:cs typeface="Courier New" pitchFamily="49" charset="-120"/>
              </a:rPr>
              <a:t> (2025, </a:t>
            </a:r>
            <a:r>
              <a:rPr lang="en-US" sz="1400" dirty="0">
                <a:solidFill>
                  <a:srgbClr val="A6E3A1"/>
                </a:solidFill>
                <a:latin typeface="Courier New" pitchFamily="49" charset="0"/>
                <a:ea typeface="Courier New" pitchFamily="49" charset="-122"/>
                <a:cs typeface="Courier New" pitchFamily="49" charset="-120"/>
              </a:rPr>
              <a:t>'2025-09-15'</a:t>
            </a:r>
            <a:r>
              <a:rPr lang="en-US" sz="1400" dirty="0">
                <a:solidFill>
                  <a:srgbClr val="E8EDF6"/>
                </a:solidFill>
                <a:latin typeface="Courier New" pitchFamily="49" charset="0"/>
                <a:ea typeface="Courier New" pitchFamily="49" charset="-122"/>
                <a:cs typeface="Courier New" pitchFamily="49" charset="-120"/>
              </a:rPr>
              <a:t>,</a:t>
            </a:r>
            <a:endParaRPr lang="en-US" sz="1400" dirty="0"/>
          </a:p>
          <a:p>
            <a:pPr algn="l" indent="0" marL="0">
              <a:lnSpc>
                <a:spcPts val="2170"/>
              </a:lnSpc>
              <a:buNone/>
            </a:pPr>
            <a:r>
              <a:rPr lang="en-US" sz="1400" dirty="0">
                <a:solidFill>
                  <a:srgbClr val="A6E3A1"/>
                </a:solidFill>
                <a:latin typeface="Courier New" pitchFamily="49" charset="0"/>
                <a:ea typeface="Courier New" pitchFamily="49" charset="-122"/>
                <a:cs typeface="Courier New" pitchFamily="49" charset="-120"/>
              </a:rPr>
              <a:t>'Barcelona'</a:t>
            </a:r>
            <a:r>
              <a:rPr lang="en-US" sz="1400" dirty="0">
                <a:solidFill>
                  <a:srgbClr val="E8EDF6"/>
                </a:solidFill>
                <a:latin typeface="Courier New" pitchFamily="49" charset="0"/>
                <a:ea typeface="Courier New" pitchFamily="49" charset="-122"/>
                <a:cs typeface="Courier New" pitchFamily="49" charset="-120"/>
              </a:rPr>
              <a:t>, </a:t>
            </a:r>
            <a:r>
              <a:rPr lang="en-US" sz="1400" dirty="0">
                <a:solidFill>
                  <a:srgbClr val="A6E3A1"/>
                </a:solidFill>
                <a:latin typeface="Courier New" pitchFamily="49" charset="0"/>
                <a:ea typeface="Courier New" pitchFamily="49" charset="-122"/>
                <a:cs typeface="Courier New" pitchFamily="49" charset="-120"/>
              </a:rPr>
              <a:t>'DS'</a:t>
            </a:r>
            <a:r>
              <a:rPr lang="en-US" sz="1400" dirty="0">
                <a:solidFill>
                  <a:srgbClr val="E8EDF6"/>
                </a:solidFill>
                <a:latin typeface="Courier New" pitchFamily="49" charset="0"/>
                <a:ea typeface="Courier New" pitchFamily="49" charset="-122"/>
                <a:cs typeface="Courier New" pitchFamily="49" charset="-120"/>
              </a:rPr>
              <a:t>);</a:t>
            </a:r>
            <a:endParaRPr lang="en-US" sz="1400" dirty="0"/>
          </a:p>
        </p:txBody>
      </p:sp>
      <p:sp>
        <p:nvSpPr>
          <p:cNvPr id="5" name="Text 3"/>
          <p:cNvSpPr/>
          <p:nvPr/>
        </p:nvSpPr>
        <p:spPr>
          <a:xfrm>
            <a:off x="812800" y="3965575"/>
            <a:ext cx="56509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Arial" pitchFamily="34" charset="0"/>
                <a:ea typeface="Arial" pitchFamily="34" charset="-122"/>
                <a:cs typeface="Arial" pitchFamily="34" charset="-120"/>
              </a:rPr>
              <a:t>Sin tocar la estructura. El id se genera solo.</a:t>
            </a:r>
            <a:endParaRPr lang="en-US" sz="1400" dirty="0"/>
          </a:p>
        </p:txBody>
      </p:sp>
      <p:sp>
        <p:nvSpPr>
          <p:cNvPr id="6" name="Shape 4"/>
          <p:cNvSpPr/>
          <p:nvPr/>
        </p:nvSpPr>
        <p:spPr>
          <a:xfrm>
            <a:off x="6553200" y="1569641"/>
            <a:ext cx="4826000" cy="2963267"/>
          </a:xfrm>
          <a:prstGeom prst="rect">
            <a:avLst/>
          </a:prstGeom>
          <a:solidFill>
            <a:srgbClr val="FFFFF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65900" y="1582341"/>
          <a:ext cx="4813300" cy="2950567"/>
        </p:xfrm>
        <a:graphic>
          <a:graphicData uri="http://schemas.openxmlformats.org/drawingml/2006/table">
            <a:tbl>
              <a:tblPr/>
              <a:tblGrid>
                <a:gridCol w="2695448"/>
                <a:gridCol w="2117852"/>
              </a:tblGrid>
              <a:tr h="634802">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Quiero añadir…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¿Cambia la estructura?</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campus o promoción</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proyecto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Una vertical</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profesor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 alumno en 2 bootcamps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No (gracias a N:M)</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Una modalidad nueva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Sí (hoy es un ENUM)</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6 ·</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Qué mejoraríamos</a:t>
            </a:r>
            <a:endParaRPr lang="en-US" sz="3600" dirty="0"/>
          </a:p>
        </p:txBody>
      </p:sp>
      <p:sp>
        <p:nvSpPr>
          <p:cNvPr id="3" name="Shape 1"/>
          <p:cNvSpPr/>
          <p:nvPr/>
        </p:nvSpPr>
        <p:spPr>
          <a:xfrm>
            <a:off x="819150" y="1601391"/>
            <a:ext cx="5181600" cy="1267321"/>
          </a:xfrm>
          <a:prstGeom prst="roundRect">
            <a:avLst>
              <a:gd name="adj" fmla="val 9520"/>
            </a:avLst>
          </a:prstGeom>
          <a:solidFill>
            <a:srgbClr val="FFFFFF"/>
          </a:solidFill>
          <a:ln w="12700">
            <a:solidFill>
              <a:srgbClr val="DCE2EC"/>
            </a:solidFill>
            <a:prstDash val="solid"/>
          </a:ln>
        </p:spPr>
      </p:sp>
      <p:sp>
        <p:nvSpPr>
          <p:cNvPr id="4" name="Text 2"/>
          <p:cNvSpPr/>
          <p:nvPr/>
        </p:nvSpPr>
        <p:spPr>
          <a:xfrm>
            <a:off x="1054100" y="1836341"/>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Tabla modalidad</a:t>
            </a:r>
            <a:endParaRPr lang="en-US" sz="1700" dirty="0"/>
          </a:p>
        </p:txBody>
      </p:sp>
      <p:sp>
        <p:nvSpPr>
          <p:cNvPr id="5" name="Text 3"/>
          <p:cNvSpPr/>
          <p:nvPr/>
        </p:nvSpPr>
        <p:spPr>
          <a:xfrm>
            <a:off x="1054100" y="2171601"/>
            <a:ext cx="48530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“Híbrida” sería un INSERT, y serviría también para alumnos y promociones</a:t>
            </a:r>
            <a:endParaRPr lang="en-US" sz="1300" dirty="0"/>
          </a:p>
        </p:txBody>
      </p:sp>
      <p:sp>
        <p:nvSpPr>
          <p:cNvPr id="6" name="Shape 4"/>
          <p:cNvSpPr/>
          <p:nvPr/>
        </p:nvSpPr>
        <p:spPr>
          <a:xfrm>
            <a:off x="6191250" y="1601391"/>
            <a:ext cx="5181600" cy="1267321"/>
          </a:xfrm>
          <a:prstGeom prst="roundRect">
            <a:avLst>
              <a:gd name="adj" fmla="val 9520"/>
            </a:avLst>
          </a:prstGeom>
          <a:solidFill>
            <a:srgbClr val="FFFFFF"/>
          </a:solidFill>
          <a:ln w="12700">
            <a:solidFill>
              <a:srgbClr val="DCE2EC"/>
            </a:solidFill>
            <a:prstDash val="solid"/>
          </a:ln>
        </p:spPr>
      </p:sp>
      <p:sp>
        <p:nvSpPr>
          <p:cNvPr id="7" name="Text 5"/>
          <p:cNvSpPr/>
          <p:nvPr/>
        </p:nvSpPr>
        <p:spPr>
          <a:xfrm>
            <a:off x="6426200" y="1836341"/>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Tablas campus, vertical y aula</a:t>
            </a:r>
            <a:endParaRPr lang="en-US" sz="1700" dirty="0"/>
          </a:p>
        </p:txBody>
      </p:sp>
      <p:sp>
        <p:nvSpPr>
          <p:cNvPr id="8" name="Text 6"/>
          <p:cNvSpPr/>
          <p:nvPr/>
        </p:nvSpPr>
        <p:spPr>
          <a:xfrm>
            <a:off x="6426200" y="2171601"/>
            <a:ext cx="48530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Sin errores de escritura y con más datos de cada uno</a:t>
            </a:r>
            <a:endParaRPr lang="en-US" sz="1300" dirty="0"/>
          </a:p>
        </p:txBody>
      </p:sp>
      <p:sp>
        <p:nvSpPr>
          <p:cNvPr id="9" name="Shape 7"/>
          <p:cNvSpPr/>
          <p:nvPr/>
        </p:nvSpPr>
        <p:spPr>
          <a:xfrm>
            <a:off x="819150" y="3059212"/>
            <a:ext cx="5181600" cy="1036241"/>
          </a:xfrm>
          <a:prstGeom prst="roundRect">
            <a:avLst>
              <a:gd name="adj" fmla="val 11643"/>
            </a:avLst>
          </a:prstGeom>
          <a:solidFill>
            <a:srgbClr val="FFFFFF"/>
          </a:solidFill>
          <a:ln w="12700">
            <a:solidFill>
              <a:srgbClr val="DCE2EC"/>
            </a:solidFill>
            <a:prstDash val="solid"/>
          </a:ln>
        </p:spPr>
      </p:sp>
      <p:sp>
        <p:nvSpPr>
          <p:cNvPr id="10" name="Text 8"/>
          <p:cNvSpPr/>
          <p:nvPr/>
        </p:nvSpPr>
        <p:spPr>
          <a:xfrm>
            <a:off x="1054100" y="3294162"/>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Más restricciones</a:t>
            </a:r>
            <a:endParaRPr lang="en-US" sz="1700" dirty="0"/>
          </a:p>
        </p:txBody>
      </p:sp>
      <p:sp>
        <p:nvSpPr>
          <p:cNvPr id="11" name="Text 9"/>
          <p:cNvSpPr/>
          <p:nvPr/>
        </p:nvSpPr>
        <p:spPr>
          <a:xfrm>
            <a:off x="1054100" y="3629422"/>
            <a:ext cx="48530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UNIQUE en el email, NOT NULL y CHECK en la evaluación</a:t>
            </a:r>
            <a:endParaRPr lang="en-US" sz="1300" dirty="0"/>
          </a:p>
        </p:txBody>
      </p:sp>
      <p:sp>
        <p:nvSpPr>
          <p:cNvPr id="12" name="Shape 10"/>
          <p:cNvSpPr/>
          <p:nvPr/>
        </p:nvSpPr>
        <p:spPr>
          <a:xfrm>
            <a:off x="6191250" y="3059212"/>
            <a:ext cx="5181600" cy="1036241"/>
          </a:xfrm>
          <a:prstGeom prst="roundRect">
            <a:avLst>
              <a:gd name="adj" fmla="val 11643"/>
            </a:avLst>
          </a:prstGeom>
          <a:solidFill>
            <a:srgbClr val="FFFFFF"/>
          </a:solidFill>
          <a:ln w="12700">
            <a:solidFill>
              <a:srgbClr val="DCE2EC"/>
            </a:solidFill>
            <a:prstDash val="solid"/>
          </a:ln>
        </p:spPr>
      </p:sp>
      <p:sp>
        <p:nvSpPr>
          <p:cNvPr id="13" name="Text 11"/>
          <p:cNvSpPr/>
          <p:nvPr/>
        </p:nvSpPr>
        <p:spPr>
          <a:xfrm>
            <a:off x="6426200" y="3294162"/>
            <a:ext cx="485305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Arial" pitchFamily="34" charset="0"/>
                <a:ea typeface="Arial" pitchFamily="34" charset="-122"/>
                <a:cs typeface="Arial" pitchFamily="34" charset="-120"/>
              </a:rPr>
              <a:t>Seguridad en Supabase</a:t>
            </a:r>
            <a:endParaRPr lang="en-US" sz="1700" dirty="0"/>
          </a:p>
        </p:txBody>
      </p:sp>
      <p:sp>
        <p:nvSpPr>
          <p:cNvPr id="14" name="Text 12"/>
          <p:cNvSpPr/>
          <p:nvPr/>
        </p:nvSpPr>
        <p:spPr>
          <a:xfrm>
            <a:off x="6426200" y="3629422"/>
            <a:ext cx="4940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Arial" pitchFamily="34" charset="0"/>
                <a:ea typeface="Arial" pitchFamily="34" charset="-122"/>
                <a:cs typeface="Arial" pitchFamily="34" charset="-120"/>
              </a:rPr>
              <a:t>Activar RLS para que la clave pública no pueda modificar datos</a:t>
            </a:r>
            <a:endParaRPr lang="en-US" sz="13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Arial" pitchFamily="34" charset="0"/>
                <a:ea typeface="Arial" pitchFamily="34" charset="-122"/>
                <a:cs typeface="Arial" pitchFamily="34" charset="-120"/>
              </a:rPr>
              <a:t>Bloque 7</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3565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Arial" pitchFamily="34" charset="0"/>
                <a:ea typeface="Arial" pitchFamily="34" charset="-122"/>
                <a:cs typeface="Arial" pitchFamily="34" charset="-120"/>
              </a:rPr>
              <a:t>EN RESUMEN</a:t>
            </a:r>
            <a:endParaRPr lang="en-US" sz="1400" dirty="0"/>
          </a:p>
        </p:txBody>
      </p:sp>
      <p:sp>
        <p:nvSpPr>
          <p:cNvPr id="3" name="Text 1"/>
          <p:cNvSpPr/>
          <p:nvPr>
            <p:ph type="title"/>
          </p:nvPr>
        </p:nvSpPr>
        <p:spPr>
          <a:xfrm>
            <a:off x="812800" y="1910159"/>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Arial" pitchFamily="34" charset="0"/>
                <a:ea typeface="Arial" pitchFamily="34" charset="-122"/>
                <a:cs typeface="Arial" pitchFamily="34" charset="-120"/>
              </a:rPr>
              <a:t>5 CSV con datos repetidos → 8 tablas en 3FN, en la nube y listas para crecer</a:t>
            </a:r>
            <a:endParaRPr lang="en-US" sz="4800" dirty="0"/>
          </a:p>
        </p:txBody>
      </p:sp>
      <p:sp>
        <p:nvSpPr>
          <p:cNvPr id="4" name="Text 2"/>
          <p:cNvSpPr/>
          <p:nvPr/>
        </p:nvSpPr>
        <p:spPr>
          <a:xfrm>
            <a:off x="812800" y="4226520"/>
            <a:ext cx="1482130" cy="401241"/>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Normalización</a:t>
            </a:r>
            <a:endParaRPr lang="en-US" sz="1400" dirty="0"/>
          </a:p>
        </p:txBody>
      </p:sp>
      <p:sp>
        <p:nvSpPr>
          <p:cNvPr id="5" name="Text 3"/>
          <p:cNvSpPr/>
          <p:nvPr/>
        </p:nvSpPr>
        <p:spPr>
          <a:xfrm>
            <a:off x="2447330" y="4226520"/>
            <a:ext cx="1284585" cy="401241"/>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Modelo E/R</a:t>
            </a:r>
            <a:endParaRPr lang="en-US" sz="1400" dirty="0"/>
          </a:p>
        </p:txBody>
      </p:sp>
      <p:sp>
        <p:nvSpPr>
          <p:cNvPr id="6" name="Text 4"/>
          <p:cNvSpPr/>
          <p:nvPr/>
        </p:nvSpPr>
        <p:spPr>
          <a:xfrm>
            <a:off x="3884315" y="4226520"/>
            <a:ext cx="1452761" cy="401241"/>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Modelo lógico</a:t>
            </a:r>
            <a:endParaRPr lang="en-US" sz="1400" dirty="0"/>
          </a:p>
        </p:txBody>
      </p:sp>
      <p:sp>
        <p:nvSpPr>
          <p:cNvPr id="7" name="Text 5"/>
          <p:cNvSpPr/>
          <p:nvPr/>
        </p:nvSpPr>
        <p:spPr>
          <a:xfrm>
            <a:off x="5489476" y="4226520"/>
            <a:ext cx="2276376" cy="401241"/>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Arial" pitchFamily="34" charset="0"/>
                <a:ea typeface="Arial" pitchFamily="34" charset="-122"/>
                <a:cs typeface="Arial" pitchFamily="34" charset="-120"/>
              </a:rPr>
              <a:t>PostgreSQL · Supabase</a:t>
            </a:r>
            <a:endParaRPr lang="en-US" sz="1400" dirty="0"/>
          </a:p>
        </p:txBody>
      </p:sp>
      <p:sp>
        <p:nvSpPr>
          <p:cNvPr id="8" name="Text 6"/>
          <p:cNvSpPr/>
          <p:nvPr/>
        </p:nvSpPr>
        <p:spPr>
          <a:xfrm>
            <a:off x="812800" y="4932561"/>
            <a:ext cx="1088339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65A"/>
                </a:solidFill>
                <a:latin typeface="Arial" pitchFamily="34" charset="0"/>
                <a:ea typeface="Arial" pitchFamily="34" charset="-122"/>
                <a:cs typeface="Arial" pitchFamily="34" charset="-120"/>
              </a:rPr>
              <a:t>¿Preguntas?</a:t>
            </a:r>
            <a:endParaRPr lang="en-US" sz="3200" dirty="0"/>
          </a:p>
        </p:txBody>
      </p:sp>
    </p:spTree>
  </p:cSld>
  <p:clrMapOvr>
    <a:masterClrMapping/>
  </p:clrMapOvr>
</p:sld>
</file>

<file path=ppt/theme/theme1.xml><?xml version="1.0" encoding="utf-8"?>
<a:theme xmlns:a="http://schemas.openxmlformats.org/drawingml/2006/main" name="Proyecto BBDD Relacional">
  <a:themeElements>
    <a:clrScheme name="Proyecto BBDD Relacional">
      <a:dk1>
        <a:srgbClr val="14213D"/>
      </a:dk1>
      <a:lt1>
        <a:srgbClr val="F6F5F0"/>
      </a:lt1>
      <a:dk2>
        <a:srgbClr val="4D566A"/>
      </a:dk2>
      <a:lt2>
        <a:srgbClr val="DFE0DE"/>
      </a:lt2>
      <a:accent1>
        <a:srgbClr val="2F6FEB"/>
      </a:accent1>
      <a:accent2>
        <a:srgbClr val="22325A"/>
      </a:accent2>
      <a:accent3>
        <a:srgbClr val="F2A65A"/>
      </a:accent3>
      <a:accent4>
        <a:srgbClr val="1F7A4D"/>
      </a:accent4>
      <a:accent5>
        <a:srgbClr val="9AA8C4"/>
      </a:accent5>
      <a:accent6>
        <a:srgbClr val="C2410C"/>
      </a:accent6>
      <a:hlink>
        <a:srgbClr val="0563C1"/>
      </a:hlink>
      <a:folHlink>
        <a:srgbClr val="954F72"/>
      </a:folHlink>
    </a:clrScheme>
    <a:fontScheme name="Proyecto BBDD Relacio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BBDD Relacional</dc:title>
  <dc:subject/>
  <dc:creator/>
  <cp:lastModifiedBy/>
  <cp:revision>1</cp:revision>
  <dcterms:created xsi:type="dcterms:W3CDTF">2026-10-28T18:14:03Z</dcterms:created>
  <dcterms:modified xsi:type="dcterms:W3CDTF">2026-10-28T18:14:03Z</dcterms:modified>
</cp:coreProperties>
</file>